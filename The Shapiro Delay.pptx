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5"/>
  </p:notesMasterIdLst>
  <p:sldIdLst>
    <p:sldId id="284" r:id="rId5"/>
    <p:sldId id="282" r:id="rId6"/>
    <p:sldId id="278" r:id="rId7"/>
    <p:sldId id="290" r:id="rId8"/>
    <p:sldId id="286" r:id="rId9"/>
    <p:sldId id="279" r:id="rId10"/>
    <p:sldId id="280" r:id="rId11"/>
    <p:sldId id="283" r:id="rId12"/>
    <p:sldId id="264" r:id="rId13"/>
    <p:sldId id="292" r:id="rId14"/>
    <p:sldId id="259" r:id="rId15"/>
    <p:sldId id="273" r:id="rId16"/>
    <p:sldId id="276" r:id="rId17"/>
    <p:sldId id="277" r:id="rId18"/>
    <p:sldId id="270" r:id="rId19"/>
    <p:sldId id="274" r:id="rId20"/>
    <p:sldId id="275" r:id="rId21"/>
    <p:sldId id="272" r:id="rId22"/>
    <p:sldId id="291" r:id="rId23"/>
    <p:sldId id="28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37" autoAdjust="0"/>
    <p:restoredTop sz="94660"/>
  </p:normalViewPr>
  <p:slideViewPr>
    <p:cSldViewPr snapToGrid="0">
      <p:cViewPr>
        <p:scale>
          <a:sx n="100" d="100"/>
          <a:sy n="100" d="100"/>
        </p:scale>
        <p:origin x="2716" y="1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3C3F3F-D8C2-4E42-87E0-44DD2F4E2BB9}" type="datetimeFigureOut">
              <a:rPr lang="en-GB" smtClean="0"/>
              <a:t>24/03/2022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B68599-4D83-4034-9F61-62DE31CFFF18}" type="slidenum">
              <a:rPr lang="en-GB" smtClean="0"/>
              <a:t>‹#›</a:t>
            </a:fld>
            <a:endParaRPr lang="en-GB"/>
          </a:p>
        </p:txBody>
      </p:sp>
    </p:spTree>
    <p:extLst>
      <p:ext uri="{BB962C8B-B14F-4D97-AF65-F5344CB8AC3E}">
        <p14:creationId xmlns:p14="http://schemas.microsoft.com/office/powerpoint/2010/main" val="3758660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6B68599-4D83-4034-9F61-62DE31CFFF18}" type="slidenum">
              <a:rPr lang="en-GB" smtClean="0"/>
              <a:t>3</a:t>
            </a:fld>
            <a:endParaRPr lang="en-GB"/>
          </a:p>
        </p:txBody>
      </p:sp>
    </p:spTree>
    <p:extLst>
      <p:ext uri="{BB962C8B-B14F-4D97-AF65-F5344CB8AC3E}">
        <p14:creationId xmlns:p14="http://schemas.microsoft.com/office/powerpoint/2010/main" val="3150740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6B68599-4D83-4034-9F61-62DE31CFFF18}" type="slidenum">
              <a:rPr lang="en-GB" smtClean="0"/>
              <a:t>4</a:t>
            </a:fld>
            <a:endParaRPr lang="en-GB"/>
          </a:p>
        </p:txBody>
      </p:sp>
    </p:spTree>
    <p:extLst>
      <p:ext uri="{BB962C8B-B14F-4D97-AF65-F5344CB8AC3E}">
        <p14:creationId xmlns:p14="http://schemas.microsoft.com/office/powerpoint/2010/main" val="3926179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Owing both to pulsars’ extremely stable spin periods and also to the fact that our models track integer numbers of pulses, pulsar timing has yielded some of the most precise measurements in astrophysics.</a:t>
            </a:r>
          </a:p>
          <a:p>
            <a:endParaRPr lang="en-GB" dirty="0"/>
          </a:p>
          <a:p>
            <a:r>
              <a:rPr lang="en-GB" dirty="0"/>
              <a:t>The description of pulsars as “clock-like” is perhaps overused — though for a good reason. </a:t>
            </a:r>
          </a:p>
          <a:p>
            <a:endParaRPr lang="en-GB" dirty="0"/>
          </a:p>
          <a:p>
            <a:r>
              <a:rPr lang="en-GB" dirty="0"/>
              <a:t>The extremely slow spin-down of MSPs, for example, means that our timing measurements rival the precision of atomic clocks</a:t>
            </a:r>
          </a:p>
        </p:txBody>
      </p:sp>
      <p:sp>
        <p:nvSpPr>
          <p:cNvPr id="4" name="Slide Number Placeholder 3"/>
          <p:cNvSpPr>
            <a:spLocks noGrp="1"/>
          </p:cNvSpPr>
          <p:nvPr>
            <p:ph type="sldNum" sz="quarter" idx="5"/>
          </p:nvPr>
        </p:nvSpPr>
        <p:spPr/>
        <p:txBody>
          <a:bodyPr/>
          <a:lstStyle/>
          <a:p>
            <a:fld id="{56B68599-4D83-4034-9F61-62DE31CFFF18}" type="slidenum">
              <a:rPr lang="en-GB" smtClean="0"/>
              <a:t>5</a:t>
            </a:fld>
            <a:endParaRPr lang="en-GB"/>
          </a:p>
        </p:txBody>
      </p:sp>
    </p:spTree>
    <p:extLst>
      <p:ext uri="{BB962C8B-B14F-4D97-AF65-F5344CB8AC3E}">
        <p14:creationId xmlns:p14="http://schemas.microsoft.com/office/powerpoint/2010/main" val="2662837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dirty="0"/>
              <a:t>REF1 - Fourth Test of General Relativity - </a:t>
            </a:r>
            <a:r>
              <a:rPr lang="en-GB" b="0" i="0" dirty="0">
                <a:solidFill>
                  <a:srgbClr val="222222"/>
                </a:solidFill>
                <a:effectLst/>
                <a:latin typeface="Helvetica Neue"/>
              </a:rPr>
              <a:t>https://doi.org/10.1103/PhysRevLett.13.789, </a:t>
            </a:r>
            <a:r>
              <a:rPr lang="en-GB" sz="1800" b="0" i="0" u="none" strike="noStrike" baseline="0" dirty="0">
                <a:solidFill>
                  <a:srgbClr val="231F20"/>
                </a:solidFill>
                <a:latin typeface="AdvOT483a8203"/>
              </a:rPr>
              <a:t>I. I. Shapiro, Fourth Test of General Relativity, </a:t>
            </a:r>
            <a:r>
              <a:rPr lang="en-GB" sz="1800" b="0" i="0" u="none" strike="noStrike" baseline="0" dirty="0">
                <a:solidFill>
                  <a:srgbClr val="2E3093"/>
                </a:solidFill>
                <a:latin typeface="AdvOT483a8203"/>
              </a:rPr>
              <a:t>Phys. Rev.</a:t>
            </a:r>
          </a:p>
          <a:p>
            <a:pPr algn="l"/>
            <a:r>
              <a:rPr lang="en-GB" sz="1800" b="0" i="0" u="none" strike="noStrike" baseline="0" dirty="0">
                <a:solidFill>
                  <a:srgbClr val="2E3093"/>
                </a:solidFill>
                <a:latin typeface="AdvOT483a8203"/>
              </a:rPr>
              <a:t>Lett. </a:t>
            </a:r>
            <a:r>
              <a:rPr lang="en-GB" sz="1800" b="0" i="0" u="none" strike="noStrike" baseline="0" dirty="0">
                <a:solidFill>
                  <a:srgbClr val="2E3093"/>
                </a:solidFill>
                <a:latin typeface="AdvOT19ee2aa8.B"/>
              </a:rPr>
              <a:t>13</a:t>
            </a:r>
            <a:r>
              <a:rPr lang="en-GB" sz="1800" b="0" i="0" u="none" strike="noStrike" baseline="0" dirty="0">
                <a:solidFill>
                  <a:srgbClr val="2E3093"/>
                </a:solidFill>
                <a:latin typeface="AdvOT483a8203"/>
              </a:rPr>
              <a:t>, 789 (1964)</a:t>
            </a:r>
            <a:r>
              <a:rPr lang="en-GB" sz="1800" b="0" i="0" u="none" strike="noStrike" baseline="0" dirty="0">
                <a:solidFill>
                  <a:srgbClr val="231F20"/>
                </a:solidFill>
                <a:latin typeface="AdvOT483a8203"/>
              </a:rPr>
              <a:t>.</a:t>
            </a:r>
          </a:p>
          <a:p>
            <a:pPr algn="l"/>
            <a:r>
              <a:rPr lang="en-GB" sz="1800" b="0" i="0" u="none" strike="noStrike" baseline="0" dirty="0">
                <a:solidFill>
                  <a:srgbClr val="231F20"/>
                </a:solidFill>
                <a:latin typeface="AdvOT483a8203"/>
              </a:rPr>
              <a:t>REF2 – Sakai, Satoru (2011) </a:t>
            </a:r>
            <a:r>
              <a:rPr lang="en-GB" sz="1800" b="0" i="1" u="none" strike="noStrike" baseline="0" dirty="0">
                <a:solidFill>
                  <a:srgbClr val="231F20"/>
                </a:solidFill>
                <a:latin typeface="AdvOT483a8203"/>
              </a:rPr>
              <a:t>The effect of Shapiro delay on pulsar timing</a:t>
            </a:r>
            <a:r>
              <a:rPr lang="en-GB" sz="1800" b="0" i="0" u="none" strike="noStrike" baseline="0" dirty="0">
                <a:solidFill>
                  <a:srgbClr val="231F20"/>
                </a:solidFill>
                <a:latin typeface="AdvOT483a8203"/>
              </a:rPr>
              <a:t> PhD thesis</a:t>
            </a:r>
          </a:p>
          <a:p>
            <a:pPr algn="l"/>
            <a:endParaRPr lang="en-GB" dirty="0"/>
          </a:p>
        </p:txBody>
      </p:sp>
      <p:sp>
        <p:nvSpPr>
          <p:cNvPr id="4" name="Slide Number Placeholder 3"/>
          <p:cNvSpPr>
            <a:spLocks noGrp="1"/>
          </p:cNvSpPr>
          <p:nvPr>
            <p:ph type="sldNum" sz="quarter" idx="5"/>
          </p:nvPr>
        </p:nvSpPr>
        <p:spPr/>
        <p:txBody>
          <a:bodyPr/>
          <a:lstStyle/>
          <a:p>
            <a:fld id="{56B68599-4D83-4034-9F61-62DE31CFFF18}" type="slidenum">
              <a:rPr lang="en-GB" smtClean="0"/>
              <a:t>7</a:t>
            </a:fld>
            <a:endParaRPr lang="en-GB"/>
          </a:p>
        </p:txBody>
      </p:sp>
    </p:spTree>
    <p:extLst>
      <p:ext uri="{BB962C8B-B14F-4D97-AF65-F5344CB8AC3E}">
        <p14:creationId xmlns:p14="http://schemas.microsoft.com/office/powerpoint/2010/main" val="3482139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basic version of the equation ignores the lens and retardation correction terms</a:t>
            </a:r>
          </a:p>
          <a:p>
            <a:pPr algn="l"/>
            <a:r>
              <a:rPr lang="en-GB" dirty="0"/>
              <a:t>Strong-Field Gravity Tests with the Double Pulsar, </a:t>
            </a:r>
            <a:r>
              <a:rPr lang="da-DK" b="0" i="0" dirty="0">
                <a:solidFill>
                  <a:srgbClr val="555555"/>
                </a:solidFill>
                <a:effectLst/>
                <a:latin typeface="Proxima Nova"/>
              </a:rPr>
              <a:t>M. Kramer </a:t>
            </a:r>
            <a:r>
              <a:rPr lang="da-DK" b="0" i="1" dirty="0">
                <a:solidFill>
                  <a:srgbClr val="555555"/>
                </a:solidFill>
                <a:effectLst/>
                <a:latin typeface="Proxima Nova"/>
              </a:rPr>
              <a:t>et al.</a:t>
            </a:r>
            <a:endParaRPr lang="da-DK" b="0" i="0" dirty="0">
              <a:solidFill>
                <a:srgbClr val="555555"/>
              </a:solidFill>
              <a:effectLst/>
              <a:latin typeface="Proxima Nova"/>
            </a:endParaRPr>
          </a:p>
          <a:p>
            <a:pPr algn="l"/>
            <a:r>
              <a:rPr lang="da-DK" b="0" i="0" dirty="0">
                <a:solidFill>
                  <a:srgbClr val="555555"/>
                </a:solidFill>
                <a:effectLst/>
                <a:latin typeface="Proxima Nova"/>
              </a:rPr>
              <a:t>Phys. Rev. X </a:t>
            </a:r>
            <a:r>
              <a:rPr lang="da-DK" b="1" i="0" dirty="0">
                <a:solidFill>
                  <a:srgbClr val="555555"/>
                </a:solidFill>
                <a:effectLst/>
                <a:latin typeface="Proxima Nova"/>
              </a:rPr>
              <a:t>11</a:t>
            </a:r>
            <a:r>
              <a:rPr lang="da-DK" b="0" i="0" dirty="0">
                <a:solidFill>
                  <a:srgbClr val="555555"/>
                </a:solidFill>
                <a:effectLst/>
                <a:latin typeface="Proxima Nova"/>
              </a:rPr>
              <a:t>, 041050 – Published 13 December 2021, </a:t>
            </a:r>
            <a:r>
              <a:rPr lang="en-GB" b="0" i="0" dirty="0" err="1">
                <a:solidFill>
                  <a:srgbClr val="222222"/>
                </a:solidFill>
                <a:effectLst/>
                <a:latin typeface="Helvetica Neue"/>
              </a:rPr>
              <a:t>DOI:https</a:t>
            </a:r>
            <a:r>
              <a:rPr lang="en-GB" b="0" i="0" dirty="0">
                <a:solidFill>
                  <a:srgbClr val="222222"/>
                </a:solidFill>
                <a:effectLst/>
                <a:latin typeface="Helvetica Neue"/>
              </a:rPr>
              <a:t>://doi.org/10.1103/PhysRevX.11.041050</a:t>
            </a:r>
            <a:endParaRPr lang="da-DK" b="0" i="0" dirty="0">
              <a:solidFill>
                <a:srgbClr val="555555"/>
              </a:solidFill>
              <a:effectLst/>
              <a:latin typeface="Proxima Nova"/>
            </a:endParaRPr>
          </a:p>
          <a:p>
            <a:endParaRPr lang="en-GB" dirty="0"/>
          </a:p>
        </p:txBody>
      </p:sp>
      <p:sp>
        <p:nvSpPr>
          <p:cNvPr id="4" name="Slide Number Placeholder 3"/>
          <p:cNvSpPr>
            <a:spLocks noGrp="1"/>
          </p:cNvSpPr>
          <p:nvPr>
            <p:ph type="sldNum" sz="quarter" idx="5"/>
          </p:nvPr>
        </p:nvSpPr>
        <p:spPr/>
        <p:txBody>
          <a:bodyPr/>
          <a:lstStyle/>
          <a:p>
            <a:fld id="{56B68599-4D83-4034-9F61-62DE31CFFF18}" type="slidenum">
              <a:rPr lang="en-GB" smtClean="0"/>
              <a:t>12</a:t>
            </a:fld>
            <a:endParaRPr lang="en-GB"/>
          </a:p>
        </p:txBody>
      </p:sp>
    </p:spTree>
    <p:extLst>
      <p:ext uri="{BB962C8B-B14F-4D97-AF65-F5344CB8AC3E}">
        <p14:creationId xmlns:p14="http://schemas.microsoft.com/office/powerpoint/2010/main" val="3047840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 equation here considers only the Sun</a:t>
            </a:r>
          </a:p>
        </p:txBody>
      </p:sp>
      <p:sp>
        <p:nvSpPr>
          <p:cNvPr id="4" name="Slide Number Placeholder 3"/>
          <p:cNvSpPr>
            <a:spLocks noGrp="1"/>
          </p:cNvSpPr>
          <p:nvPr>
            <p:ph type="sldNum" sz="quarter" idx="5"/>
          </p:nvPr>
        </p:nvSpPr>
        <p:spPr/>
        <p:txBody>
          <a:bodyPr/>
          <a:lstStyle/>
          <a:p>
            <a:fld id="{56B68599-4D83-4034-9F61-62DE31CFFF18}" type="slidenum">
              <a:rPr lang="en-GB" smtClean="0"/>
              <a:t>13</a:t>
            </a:fld>
            <a:endParaRPr lang="en-GB"/>
          </a:p>
        </p:txBody>
      </p:sp>
    </p:spTree>
    <p:extLst>
      <p:ext uri="{BB962C8B-B14F-4D97-AF65-F5344CB8AC3E}">
        <p14:creationId xmlns:p14="http://schemas.microsoft.com/office/powerpoint/2010/main" val="2719185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double pulsar binary gives great strong field tests for general relativity</a:t>
            </a:r>
          </a:p>
        </p:txBody>
      </p:sp>
      <p:sp>
        <p:nvSpPr>
          <p:cNvPr id="4" name="Slide Number Placeholder 3"/>
          <p:cNvSpPr>
            <a:spLocks noGrp="1"/>
          </p:cNvSpPr>
          <p:nvPr>
            <p:ph type="sldNum" sz="quarter" idx="5"/>
          </p:nvPr>
        </p:nvSpPr>
        <p:spPr/>
        <p:txBody>
          <a:bodyPr/>
          <a:lstStyle/>
          <a:p>
            <a:fld id="{56B68599-4D83-4034-9F61-62DE31CFFF18}" type="slidenum">
              <a:rPr lang="en-GB" smtClean="0"/>
              <a:t>15</a:t>
            </a:fld>
            <a:endParaRPr lang="en-GB"/>
          </a:p>
        </p:txBody>
      </p:sp>
    </p:spTree>
    <p:extLst>
      <p:ext uri="{BB962C8B-B14F-4D97-AF65-F5344CB8AC3E}">
        <p14:creationId xmlns:p14="http://schemas.microsoft.com/office/powerpoint/2010/main" val="296865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dirty="0"/>
              <a:t>Strong-Field Gravity Tests with the Double Pulsar, </a:t>
            </a:r>
            <a:r>
              <a:rPr lang="da-DK" b="0" i="0" dirty="0">
                <a:solidFill>
                  <a:srgbClr val="555555"/>
                </a:solidFill>
                <a:effectLst/>
                <a:latin typeface="Proxima Nova"/>
              </a:rPr>
              <a:t>M. Kramer </a:t>
            </a:r>
            <a:r>
              <a:rPr lang="da-DK" b="0" i="1" dirty="0">
                <a:solidFill>
                  <a:srgbClr val="555555"/>
                </a:solidFill>
                <a:effectLst/>
                <a:latin typeface="Proxima Nova"/>
              </a:rPr>
              <a:t>et al.</a:t>
            </a:r>
            <a:endParaRPr lang="da-DK" b="0" i="0" dirty="0">
              <a:solidFill>
                <a:srgbClr val="555555"/>
              </a:solidFill>
              <a:effectLst/>
              <a:latin typeface="Proxima Nova"/>
            </a:endParaRPr>
          </a:p>
          <a:p>
            <a:pPr algn="l"/>
            <a:r>
              <a:rPr lang="da-DK" b="0" i="0" dirty="0">
                <a:solidFill>
                  <a:srgbClr val="555555"/>
                </a:solidFill>
                <a:effectLst/>
                <a:latin typeface="Proxima Nova"/>
              </a:rPr>
              <a:t>Phys. Rev. X </a:t>
            </a:r>
            <a:r>
              <a:rPr lang="da-DK" b="1" i="0" dirty="0">
                <a:solidFill>
                  <a:srgbClr val="555555"/>
                </a:solidFill>
                <a:effectLst/>
                <a:latin typeface="Proxima Nova"/>
              </a:rPr>
              <a:t>11</a:t>
            </a:r>
            <a:r>
              <a:rPr lang="da-DK" b="0" i="0" dirty="0">
                <a:solidFill>
                  <a:srgbClr val="555555"/>
                </a:solidFill>
                <a:effectLst/>
                <a:latin typeface="Proxima Nova"/>
              </a:rPr>
              <a:t>, 041050 – Published 13 December 2021, </a:t>
            </a:r>
            <a:r>
              <a:rPr lang="en-GB" b="0" i="0" dirty="0" err="1">
                <a:solidFill>
                  <a:srgbClr val="222222"/>
                </a:solidFill>
                <a:effectLst/>
                <a:latin typeface="Helvetica Neue"/>
              </a:rPr>
              <a:t>DOI:https</a:t>
            </a:r>
            <a:r>
              <a:rPr lang="en-GB" b="0" i="0" dirty="0">
                <a:solidFill>
                  <a:srgbClr val="222222"/>
                </a:solidFill>
                <a:effectLst/>
                <a:latin typeface="Helvetica Neue"/>
              </a:rPr>
              <a:t>://doi.org/10.1103/PhysRevX.11.041050</a:t>
            </a:r>
            <a:endParaRPr lang="da-DK" b="0" i="0" dirty="0">
              <a:solidFill>
                <a:srgbClr val="555555"/>
              </a:solidFill>
              <a:effectLst/>
              <a:latin typeface="Proxima Nov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b="0" i="0" dirty="0">
                <a:solidFill>
                  <a:srgbClr val="555555"/>
                </a:solidFill>
                <a:effectLst/>
                <a:latin typeface="Proxima Nova"/>
              </a:rPr>
              <a:t>Double Pulsar PSR J0737-3039A/B</a:t>
            </a:r>
          </a:p>
          <a:p>
            <a:endParaRPr lang="en-GB" dirty="0"/>
          </a:p>
        </p:txBody>
      </p:sp>
      <p:sp>
        <p:nvSpPr>
          <p:cNvPr id="4" name="Slide Number Placeholder 3"/>
          <p:cNvSpPr>
            <a:spLocks noGrp="1"/>
          </p:cNvSpPr>
          <p:nvPr>
            <p:ph type="sldNum" sz="quarter" idx="5"/>
          </p:nvPr>
        </p:nvSpPr>
        <p:spPr/>
        <p:txBody>
          <a:bodyPr/>
          <a:lstStyle/>
          <a:p>
            <a:fld id="{56B68599-4D83-4034-9F61-62DE31CFFF18}" type="slidenum">
              <a:rPr lang="en-GB" smtClean="0"/>
              <a:t>16</a:t>
            </a:fld>
            <a:endParaRPr lang="en-GB"/>
          </a:p>
        </p:txBody>
      </p:sp>
    </p:spTree>
    <p:extLst>
      <p:ext uri="{BB962C8B-B14F-4D97-AF65-F5344CB8AC3E}">
        <p14:creationId xmlns:p14="http://schemas.microsoft.com/office/powerpoint/2010/main" val="3211416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dirty="0"/>
              <a:t>Strong-Field Gravity Tests with the Double Pulsar, </a:t>
            </a:r>
            <a:r>
              <a:rPr lang="da-DK" b="0" i="0" dirty="0">
                <a:solidFill>
                  <a:srgbClr val="555555"/>
                </a:solidFill>
                <a:effectLst/>
                <a:latin typeface="Proxima Nova"/>
              </a:rPr>
              <a:t>M. Kramer </a:t>
            </a:r>
            <a:r>
              <a:rPr lang="da-DK" b="0" i="1" dirty="0">
                <a:solidFill>
                  <a:srgbClr val="555555"/>
                </a:solidFill>
                <a:effectLst/>
                <a:latin typeface="Proxima Nova"/>
              </a:rPr>
              <a:t>et al.</a:t>
            </a:r>
            <a:endParaRPr lang="da-DK" b="0" i="0" dirty="0">
              <a:solidFill>
                <a:srgbClr val="555555"/>
              </a:solidFill>
              <a:effectLst/>
              <a:latin typeface="Proxima Nova"/>
            </a:endParaRPr>
          </a:p>
          <a:p>
            <a:pPr algn="l"/>
            <a:r>
              <a:rPr lang="da-DK" b="0" i="0" dirty="0">
                <a:solidFill>
                  <a:srgbClr val="555555"/>
                </a:solidFill>
                <a:effectLst/>
                <a:latin typeface="Proxima Nova"/>
              </a:rPr>
              <a:t>Phys. Rev. X </a:t>
            </a:r>
            <a:r>
              <a:rPr lang="da-DK" b="1" i="0" dirty="0">
                <a:solidFill>
                  <a:srgbClr val="555555"/>
                </a:solidFill>
                <a:effectLst/>
                <a:latin typeface="Proxima Nova"/>
              </a:rPr>
              <a:t>11</a:t>
            </a:r>
            <a:r>
              <a:rPr lang="da-DK" b="0" i="0" dirty="0">
                <a:solidFill>
                  <a:srgbClr val="555555"/>
                </a:solidFill>
                <a:effectLst/>
                <a:latin typeface="Proxima Nova"/>
              </a:rPr>
              <a:t>, 041050 – Published 13 December 2021, </a:t>
            </a:r>
            <a:r>
              <a:rPr lang="en-GB" b="0" i="0" dirty="0" err="1">
                <a:solidFill>
                  <a:srgbClr val="222222"/>
                </a:solidFill>
                <a:effectLst/>
                <a:latin typeface="Helvetica Neue"/>
              </a:rPr>
              <a:t>DOI:https</a:t>
            </a:r>
            <a:r>
              <a:rPr lang="en-GB" b="0" i="0" dirty="0">
                <a:solidFill>
                  <a:srgbClr val="222222"/>
                </a:solidFill>
                <a:effectLst/>
                <a:latin typeface="Helvetica Neue"/>
              </a:rPr>
              <a:t>://doi.org/10.1103/PhysRevX.11.041050</a:t>
            </a:r>
          </a:p>
          <a:p>
            <a:pPr algn="l"/>
            <a:r>
              <a:rPr lang="da-DK" b="0" i="0" dirty="0">
                <a:solidFill>
                  <a:srgbClr val="555555"/>
                </a:solidFill>
                <a:effectLst/>
                <a:latin typeface="Proxima Nova"/>
              </a:rPr>
              <a:t>Double Pulsar PSR J0737-3039A/B</a:t>
            </a:r>
          </a:p>
          <a:p>
            <a:endParaRPr lang="en-GB" dirty="0"/>
          </a:p>
        </p:txBody>
      </p:sp>
      <p:sp>
        <p:nvSpPr>
          <p:cNvPr id="4" name="Slide Number Placeholder 3"/>
          <p:cNvSpPr>
            <a:spLocks noGrp="1"/>
          </p:cNvSpPr>
          <p:nvPr>
            <p:ph type="sldNum" sz="quarter" idx="5"/>
          </p:nvPr>
        </p:nvSpPr>
        <p:spPr/>
        <p:txBody>
          <a:bodyPr/>
          <a:lstStyle/>
          <a:p>
            <a:fld id="{56B68599-4D83-4034-9F61-62DE31CFFF18}" type="slidenum">
              <a:rPr lang="en-GB" smtClean="0"/>
              <a:t>17</a:t>
            </a:fld>
            <a:endParaRPr lang="en-GB"/>
          </a:p>
        </p:txBody>
      </p:sp>
    </p:spTree>
    <p:extLst>
      <p:ext uri="{BB962C8B-B14F-4D97-AF65-F5344CB8AC3E}">
        <p14:creationId xmlns:p14="http://schemas.microsoft.com/office/powerpoint/2010/main" val="24216212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Spin shows it’s a millisecond pulsar</a:t>
            </a:r>
          </a:p>
          <a:p>
            <a:endParaRPr lang="en-GB" dirty="0"/>
          </a:p>
          <a:p>
            <a:r>
              <a:rPr lang="en-GB" dirty="0"/>
              <a:t>Highest mass neutron star measured to date</a:t>
            </a:r>
          </a:p>
        </p:txBody>
      </p:sp>
      <p:sp>
        <p:nvSpPr>
          <p:cNvPr id="4" name="Slide Number Placeholder 3"/>
          <p:cNvSpPr>
            <a:spLocks noGrp="1"/>
          </p:cNvSpPr>
          <p:nvPr>
            <p:ph type="sldNum" sz="quarter" idx="5"/>
          </p:nvPr>
        </p:nvSpPr>
        <p:spPr/>
        <p:txBody>
          <a:bodyPr/>
          <a:lstStyle/>
          <a:p>
            <a:fld id="{56B68599-4D83-4034-9F61-62DE31CFFF18}" type="slidenum">
              <a:rPr lang="en-GB" smtClean="0"/>
              <a:t>18</a:t>
            </a:fld>
            <a:endParaRPr lang="en-GB"/>
          </a:p>
        </p:txBody>
      </p:sp>
    </p:spTree>
    <p:extLst>
      <p:ext uri="{BB962C8B-B14F-4D97-AF65-F5344CB8AC3E}">
        <p14:creationId xmlns:p14="http://schemas.microsoft.com/office/powerpoint/2010/main" val="907120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Spin shows it’s a millisecond pulsar</a:t>
            </a:r>
          </a:p>
          <a:p>
            <a:endParaRPr lang="en-GB" dirty="0"/>
          </a:p>
          <a:p>
            <a:r>
              <a:rPr lang="en-GB" dirty="0"/>
              <a:t>Highest mass neutron star measured to date</a:t>
            </a:r>
          </a:p>
        </p:txBody>
      </p:sp>
      <p:sp>
        <p:nvSpPr>
          <p:cNvPr id="4" name="Slide Number Placeholder 3"/>
          <p:cNvSpPr>
            <a:spLocks noGrp="1"/>
          </p:cNvSpPr>
          <p:nvPr>
            <p:ph type="sldNum" sz="quarter" idx="5"/>
          </p:nvPr>
        </p:nvSpPr>
        <p:spPr/>
        <p:txBody>
          <a:bodyPr/>
          <a:lstStyle/>
          <a:p>
            <a:fld id="{56B68599-4D83-4034-9F61-62DE31CFFF18}" type="slidenum">
              <a:rPr lang="en-GB" smtClean="0"/>
              <a:t>19</a:t>
            </a:fld>
            <a:endParaRPr lang="en-GB"/>
          </a:p>
        </p:txBody>
      </p:sp>
    </p:spTree>
    <p:extLst>
      <p:ext uri="{BB962C8B-B14F-4D97-AF65-F5344CB8AC3E}">
        <p14:creationId xmlns:p14="http://schemas.microsoft.com/office/powerpoint/2010/main" val="1599272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72F9E-49B8-40BF-A764-F3E68FAB1A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1FBB617-FB05-412A-99B0-CCAE0E7780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FE46C3D-9A6C-4B8D-A81C-B1A206946BF3}"/>
              </a:ext>
            </a:extLst>
          </p:cNvPr>
          <p:cNvSpPr>
            <a:spLocks noGrp="1"/>
          </p:cNvSpPr>
          <p:nvPr>
            <p:ph type="dt" sz="half" idx="10"/>
          </p:nvPr>
        </p:nvSpPr>
        <p:spPr/>
        <p:txBody>
          <a:bodyPr/>
          <a:lstStyle/>
          <a:p>
            <a:fld id="{50BBD304-4FA8-44A0-8565-0ECBBC742C1E}" type="datetimeFigureOut">
              <a:rPr lang="en-GB" smtClean="0"/>
              <a:t>24/03/2022</a:t>
            </a:fld>
            <a:endParaRPr lang="en-GB"/>
          </a:p>
        </p:txBody>
      </p:sp>
      <p:sp>
        <p:nvSpPr>
          <p:cNvPr id="5" name="Footer Placeholder 4">
            <a:extLst>
              <a:ext uri="{FF2B5EF4-FFF2-40B4-BE49-F238E27FC236}">
                <a16:creationId xmlns:a16="http://schemas.microsoft.com/office/drawing/2014/main" id="{7386DAF3-98B7-4BEB-9AE4-34FF93A9E8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ECF5954-F799-450C-A85A-DF13A71F7B65}"/>
              </a:ext>
            </a:extLst>
          </p:cNvPr>
          <p:cNvSpPr>
            <a:spLocks noGrp="1"/>
          </p:cNvSpPr>
          <p:nvPr>
            <p:ph type="sldNum" sz="quarter" idx="12"/>
          </p:nvPr>
        </p:nvSpPr>
        <p:spPr/>
        <p:txBody>
          <a:bodyPr/>
          <a:lstStyle/>
          <a:p>
            <a:fld id="{C1582620-B1E5-4A89-B52E-8C5D8731233D}" type="slidenum">
              <a:rPr lang="en-GB" smtClean="0"/>
              <a:t>‹#›</a:t>
            </a:fld>
            <a:endParaRPr lang="en-GB"/>
          </a:p>
        </p:txBody>
      </p:sp>
    </p:spTree>
    <p:extLst>
      <p:ext uri="{BB962C8B-B14F-4D97-AF65-F5344CB8AC3E}">
        <p14:creationId xmlns:p14="http://schemas.microsoft.com/office/powerpoint/2010/main" val="3287958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F103D-9C5D-4F4A-A512-A603EF66178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A7AB08F-3F81-4288-BD58-BE3215DBC9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166584C-E179-4F13-934D-4DE473329AEE}"/>
              </a:ext>
            </a:extLst>
          </p:cNvPr>
          <p:cNvSpPr>
            <a:spLocks noGrp="1"/>
          </p:cNvSpPr>
          <p:nvPr>
            <p:ph type="dt" sz="half" idx="10"/>
          </p:nvPr>
        </p:nvSpPr>
        <p:spPr/>
        <p:txBody>
          <a:bodyPr/>
          <a:lstStyle/>
          <a:p>
            <a:fld id="{50BBD304-4FA8-44A0-8565-0ECBBC742C1E}" type="datetimeFigureOut">
              <a:rPr lang="en-GB" smtClean="0"/>
              <a:t>24/03/2022</a:t>
            </a:fld>
            <a:endParaRPr lang="en-GB"/>
          </a:p>
        </p:txBody>
      </p:sp>
      <p:sp>
        <p:nvSpPr>
          <p:cNvPr id="5" name="Footer Placeholder 4">
            <a:extLst>
              <a:ext uri="{FF2B5EF4-FFF2-40B4-BE49-F238E27FC236}">
                <a16:creationId xmlns:a16="http://schemas.microsoft.com/office/drawing/2014/main" id="{A6ED2394-0B15-41F7-8BDD-6EE8A10311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C491667-7911-4791-B1A1-D803EA5C8A38}"/>
              </a:ext>
            </a:extLst>
          </p:cNvPr>
          <p:cNvSpPr>
            <a:spLocks noGrp="1"/>
          </p:cNvSpPr>
          <p:nvPr>
            <p:ph type="sldNum" sz="quarter" idx="12"/>
          </p:nvPr>
        </p:nvSpPr>
        <p:spPr/>
        <p:txBody>
          <a:bodyPr/>
          <a:lstStyle/>
          <a:p>
            <a:fld id="{C1582620-B1E5-4A89-B52E-8C5D8731233D}" type="slidenum">
              <a:rPr lang="en-GB" smtClean="0"/>
              <a:t>‹#›</a:t>
            </a:fld>
            <a:endParaRPr lang="en-GB"/>
          </a:p>
        </p:txBody>
      </p:sp>
    </p:spTree>
    <p:extLst>
      <p:ext uri="{BB962C8B-B14F-4D97-AF65-F5344CB8AC3E}">
        <p14:creationId xmlns:p14="http://schemas.microsoft.com/office/powerpoint/2010/main" val="2100933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0FAE2-594C-4603-B81E-3D12B21510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8F80BFD-C9A6-49F4-ADB1-D692529A73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4DA061-DE4E-4E4D-8D1D-B937412960A4}"/>
              </a:ext>
            </a:extLst>
          </p:cNvPr>
          <p:cNvSpPr>
            <a:spLocks noGrp="1"/>
          </p:cNvSpPr>
          <p:nvPr>
            <p:ph type="dt" sz="half" idx="10"/>
          </p:nvPr>
        </p:nvSpPr>
        <p:spPr/>
        <p:txBody>
          <a:bodyPr/>
          <a:lstStyle/>
          <a:p>
            <a:fld id="{50BBD304-4FA8-44A0-8565-0ECBBC742C1E}" type="datetimeFigureOut">
              <a:rPr lang="en-GB" smtClean="0"/>
              <a:t>24/03/2022</a:t>
            </a:fld>
            <a:endParaRPr lang="en-GB"/>
          </a:p>
        </p:txBody>
      </p:sp>
      <p:sp>
        <p:nvSpPr>
          <p:cNvPr id="5" name="Footer Placeholder 4">
            <a:extLst>
              <a:ext uri="{FF2B5EF4-FFF2-40B4-BE49-F238E27FC236}">
                <a16:creationId xmlns:a16="http://schemas.microsoft.com/office/drawing/2014/main" id="{361C825D-CE24-4326-9226-0E861EF5707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CFB6192-592F-485B-8C98-0B279D3F1D0E}"/>
              </a:ext>
            </a:extLst>
          </p:cNvPr>
          <p:cNvSpPr>
            <a:spLocks noGrp="1"/>
          </p:cNvSpPr>
          <p:nvPr>
            <p:ph type="sldNum" sz="quarter" idx="12"/>
          </p:nvPr>
        </p:nvSpPr>
        <p:spPr/>
        <p:txBody>
          <a:bodyPr/>
          <a:lstStyle/>
          <a:p>
            <a:fld id="{C1582620-B1E5-4A89-B52E-8C5D8731233D}" type="slidenum">
              <a:rPr lang="en-GB" smtClean="0"/>
              <a:t>‹#›</a:t>
            </a:fld>
            <a:endParaRPr lang="en-GB"/>
          </a:p>
        </p:txBody>
      </p:sp>
    </p:spTree>
    <p:extLst>
      <p:ext uri="{BB962C8B-B14F-4D97-AF65-F5344CB8AC3E}">
        <p14:creationId xmlns:p14="http://schemas.microsoft.com/office/powerpoint/2010/main" val="975120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6B286-ECCE-48CF-966D-B5E268C3C49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1193F3B-BDF4-424E-B540-86F2D9ABF8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597E9A2-9579-487B-90B4-295A9E646A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94797D6-CA1C-4A5E-A901-5F71BB1F926A}"/>
              </a:ext>
            </a:extLst>
          </p:cNvPr>
          <p:cNvSpPr>
            <a:spLocks noGrp="1"/>
          </p:cNvSpPr>
          <p:nvPr>
            <p:ph type="dt" sz="half" idx="10"/>
          </p:nvPr>
        </p:nvSpPr>
        <p:spPr/>
        <p:txBody>
          <a:bodyPr/>
          <a:lstStyle/>
          <a:p>
            <a:fld id="{50BBD304-4FA8-44A0-8565-0ECBBC742C1E}" type="datetimeFigureOut">
              <a:rPr lang="en-GB" smtClean="0"/>
              <a:t>24/03/2022</a:t>
            </a:fld>
            <a:endParaRPr lang="en-GB"/>
          </a:p>
        </p:txBody>
      </p:sp>
      <p:sp>
        <p:nvSpPr>
          <p:cNvPr id="6" name="Footer Placeholder 5">
            <a:extLst>
              <a:ext uri="{FF2B5EF4-FFF2-40B4-BE49-F238E27FC236}">
                <a16:creationId xmlns:a16="http://schemas.microsoft.com/office/drawing/2014/main" id="{A77782AE-F3B1-46B6-A0EE-95434211362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38AF0F6-7C39-49DC-A48A-2DBA6227B214}"/>
              </a:ext>
            </a:extLst>
          </p:cNvPr>
          <p:cNvSpPr>
            <a:spLocks noGrp="1"/>
          </p:cNvSpPr>
          <p:nvPr>
            <p:ph type="sldNum" sz="quarter" idx="12"/>
          </p:nvPr>
        </p:nvSpPr>
        <p:spPr/>
        <p:txBody>
          <a:bodyPr/>
          <a:lstStyle/>
          <a:p>
            <a:fld id="{C1582620-B1E5-4A89-B52E-8C5D8731233D}" type="slidenum">
              <a:rPr lang="en-GB" smtClean="0"/>
              <a:t>‹#›</a:t>
            </a:fld>
            <a:endParaRPr lang="en-GB"/>
          </a:p>
        </p:txBody>
      </p:sp>
    </p:spTree>
    <p:extLst>
      <p:ext uri="{BB962C8B-B14F-4D97-AF65-F5344CB8AC3E}">
        <p14:creationId xmlns:p14="http://schemas.microsoft.com/office/powerpoint/2010/main" val="331230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7A6CF-8AE0-4BE0-82CF-2D64CF3D9DF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50C8CF1-C23B-4138-AA28-525B6F200F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621114-0884-48B4-A710-5093770618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8C8BE0C-F24C-44D6-8B9F-804CFB4AD4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631B2E-5763-44E2-8071-4A4A46430F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EC58F8E-FE7A-49BA-A3EF-0E43B7DD8AE7}"/>
              </a:ext>
            </a:extLst>
          </p:cNvPr>
          <p:cNvSpPr>
            <a:spLocks noGrp="1"/>
          </p:cNvSpPr>
          <p:nvPr>
            <p:ph type="dt" sz="half" idx="10"/>
          </p:nvPr>
        </p:nvSpPr>
        <p:spPr/>
        <p:txBody>
          <a:bodyPr/>
          <a:lstStyle/>
          <a:p>
            <a:fld id="{50BBD304-4FA8-44A0-8565-0ECBBC742C1E}" type="datetimeFigureOut">
              <a:rPr lang="en-GB" smtClean="0"/>
              <a:t>24/03/2022</a:t>
            </a:fld>
            <a:endParaRPr lang="en-GB"/>
          </a:p>
        </p:txBody>
      </p:sp>
      <p:sp>
        <p:nvSpPr>
          <p:cNvPr id="8" name="Footer Placeholder 7">
            <a:extLst>
              <a:ext uri="{FF2B5EF4-FFF2-40B4-BE49-F238E27FC236}">
                <a16:creationId xmlns:a16="http://schemas.microsoft.com/office/drawing/2014/main" id="{9A6240E2-F0DC-45CF-9EFD-B9AD17FF698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789C7DA-EEA4-44AD-8DE5-B9F3175F9224}"/>
              </a:ext>
            </a:extLst>
          </p:cNvPr>
          <p:cNvSpPr>
            <a:spLocks noGrp="1"/>
          </p:cNvSpPr>
          <p:nvPr>
            <p:ph type="sldNum" sz="quarter" idx="12"/>
          </p:nvPr>
        </p:nvSpPr>
        <p:spPr/>
        <p:txBody>
          <a:bodyPr/>
          <a:lstStyle/>
          <a:p>
            <a:fld id="{C1582620-B1E5-4A89-B52E-8C5D8731233D}" type="slidenum">
              <a:rPr lang="en-GB" smtClean="0"/>
              <a:t>‹#›</a:t>
            </a:fld>
            <a:endParaRPr lang="en-GB"/>
          </a:p>
        </p:txBody>
      </p:sp>
    </p:spTree>
    <p:extLst>
      <p:ext uri="{BB962C8B-B14F-4D97-AF65-F5344CB8AC3E}">
        <p14:creationId xmlns:p14="http://schemas.microsoft.com/office/powerpoint/2010/main" val="3780935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CC314-2F44-4F26-80FC-16BEB31D75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BCA6DAE-1D81-4609-8B6C-7C66312574EE}"/>
              </a:ext>
            </a:extLst>
          </p:cNvPr>
          <p:cNvSpPr>
            <a:spLocks noGrp="1"/>
          </p:cNvSpPr>
          <p:nvPr>
            <p:ph type="dt" sz="half" idx="10"/>
          </p:nvPr>
        </p:nvSpPr>
        <p:spPr/>
        <p:txBody>
          <a:bodyPr/>
          <a:lstStyle/>
          <a:p>
            <a:fld id="{50BBD304-4FA8-44A0-8565-0ECBBC742C1E}" type="datetimeFigureOut">
              <a:rPr lang="en-GB" smtClean="0"/>
              <a:t>24/03/2022</a:t>
            </a:fld>
            <a:endParaRPr lang="en-GB"/>
          </a:p>
        </p:txBody>
      </p:sp>
      <p:sp>
        <p:nvSpPr>
          <p:cNvPr id="4" name="Footer Placeholder 3">
            <a:extLst>
              <a:ext uri="{FF2B5EF4-FFF2-40B4-BE49-F238E27FC236}">
                <a16:creationId xmlns:a16="http://schemas.microsoft.com/office/drawing/2014/main" id="{09D74794-6660-4507-8B92-211479AAF06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06784CF-D454-450D-9A9B-E9BD116B41CA}"/>
              </a:ext>
            </a:extLst>
          </p:cNvPr>
          <p:cNvSpPr>
            <a:spLocks noGrp="1"/>
          </p:cNvSpPr>
          <p:nvPr>
            <p:ph type="sldNum" sz="quarter" idx="12"/>
          </p:nvPr>
        </p:nvSpPr>
        <p:spPr/>
        <p:txBody>
          <a:bodyPr/>
          <a:lstStyle/>
          <a:p>
            <a:fld id="{C1582620-B1E5-4A89-B52E-8C5D8731233D}" type="slidenum">
              <a:rPr lang="en-GB" smtClean="0"/>
              <a:t>‹#›</a:t>
            </a:fld>
            <a:endParaRPr lang="en-GB"/>
          </a:p>
        </p:txBody>
      </p:sp>
    </p:spTree>
    <p:extLst>
      <p:ext uri="{BB962C8B-B14F-4D97-AF65-F5344CB8AC3E}">
        <p14:creationId xmlns:p14="http://schemas.microsoft.com/office/powerpoint/2010/main" val="318719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34C0A2-1FA5-4857-B3B2-7389A4C8E6E5}"/>
              </a:ext>
            </a:extLst>
          </p:cNvPr>
          <p:cNvSpPr>
            <a:spLocks noGrp="1"/>
          </p:cNvSpPr>
          <p:nvPr>
            <p:ph type="dt" sz="half" idx="10"/>
          </p:nvPr>
        </p:nvSpPr>
        <p:spPr/>
        <p:txBody>
          <a:bodyPr/>
          <a:lstStyle/>
          <a:p>
            <a:fld id="{50BBD304-4FA8-44A0-8565-0ECBBC742C1E}" type="datetimeFigureOut">
              <a:rPr lang="en-GB" smtClean="0"/>
              <a:t>24/03/2022</a:t>
            </a:fld>
            <a:endParaRPr lang="en-GB"/>
          </a:p>
        </p:txBody>
      </p:sp>
      <p:sp>
        <p:nvSpPr>
          <p:cNvPr id="3" name="Footer Placeholder 2">
            <a:extLst>
              <a:ext uri="{FF2B5EF4-FFF2-40B4-BE49-F238E27FC236}">
                <a16:creationId xmlns:a16="http://schemas.microsoft.com/office/drawing/2014/main" id="{2C3A7487-8254-4D03-B571-F08FEA2CED2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B6B7947-A2E4-41D1-A76D-E93F4D357E9F}"/>
              </a:ext>
            </a:extLst>
          </p:cNvPr>
          <p:cNvSpPr>
            <a:spLocks noGrp="1"/>
          </p:cNvSpPr>
          <p:nvPr>
            <p:ph type="sldNum" sz="quarter" idx="12"/>
          </p:nvPr>
        </p:nvSpPr>
        <p:spPr/>
        <p:txBody>
          <a:bodyPr/>
          <a:lstStyle/>
          <a:p>
            <a:fld id="{C1582620-B1E5-4A89-B52E-8C5D8731233D}" type="slidenum">
              <a:rPr lang="en-GB" smtClean="0"/>
              <a:t>‹#›</a:t>
            </a:fld>
            <a:endParaRPr lang="en-GB"/>
          </a:p>
        </p:txBody>
      </p:sp>
    </p:spTree>
    <p:extLst>
      <p:ext uri="{BB962C8B-B14F-4D97-AF65-F5344CB8AC3E}">
        <p14:creationId xmlns:p14="http://schemas.microsoft.com/office/powerpoint/2010/main" val="1195733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DE5A7-DD0E-4527-B4A6-C48DCA0A9A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287BE79-B600-45CD-8FB6-A7BAEE4AFE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DCDADCC-1296-4709-BC43-60E6241CB7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96C82D-793B-4E50-9B6C-A402E88786E6}"/>
              </a:ext>
            </a:extLst>
          </p:cNvPr>
          <p:cNvSpPr>
            <a:spLocks noGrp="1"/>
          </p:cNvSpPr>
          <p:nvPr>
            <p:ph type="dt" sz="half" idx="10"/>
          </p:nvPr>
        </p:nvSpPr>
        <p:spPr/>
        <p:txBody>
          <a:bodyPr/>
          <a:lstStyle/>
          <a:p>
            <a:fld id="{50BBD304-4FA8-44A0-8565-0ECBBC742C1E}" type="datetimeFigureOut">
              <a:rPr lang="en-GB" smtClean="0"/>
              <a:t>24/03/2022</a:t>
            </a:fld>
            <a:endParaRPr lang="en-GB"/>
          </a:p>
        </p:txBody>
      </p:sp>
      <p:sp>
        <p:nvSpPr>
          <p:cNvPr id="6" name="Footer Placeholder 5">
            <a:extLst>
              <a:ext uri="{FF2B5EF4-FFF2-40B4-BE49-F238E27FC236}">
                <a16:creationId xmlns:a16="http://schemas.microsoft.com/office/drawing/2014/main" id="{F4499373-C117-4A93-80AF-3B5D52727E0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5E7FFC8-41A7-473B-A0B5-A205D766343E}"/>
              </a:ext>
            </a:extLst>
          </p:cNvPr>
          <p:cNvSpPr>
            <a:spLocks noGrp="1"/>
          </p:cNvSpPr>
          <p:nvPr>
            <p:ph type="sldNum" sz="quarter" idx="12"/>
          </p:nvPr>
        </p:nvSpPr>
        <p:spPr/>
        <p:txBody>
          <a:bodyPr/>
          <a:lstStyle/>
          <a:p>
            <a:fld id="{C1582620-B1E5-4A89-B52E-8C5D8731233D}" type="slidenum">
              <a:rPr lang="en-GB" smtClean="0"/>
              <a:t>‹#›</a:t>
            </a:fld>
            <a:endParaRPr lang="en-GB"/>
          </a:p>
        </p:txBody>
      </p:sp>
    </p:spTree>
    <p:extLst>
      <p:ext uri="{BB962C8B-B14F-4D97-AF65-F5344CB8AC3E}">
        <p14:creationId xmlns:p14="http://schemas.microsoft.com/office/powerpoint/2010/main" val="3017183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973FA-3AF7-484E-B351-084977C784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329404F-9BD1-4216-8D56-C426C6AF01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8929664-89DE-47DA-A89D-79C93C13C2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8624AA-E4AC-4014-AEAD-61DCA429BA35}"/>
              </a:ext>
            </a:extLst>
          </p:cNvPr>
          <p:cNvSpPr>
            <a:spLocks noGrp="1"/>
          </p:cNvSpPr>
          <p:nvPr>
            <p:ph type="dt" sz="half" idx="10"/>
          </p:nvPr>
        </p:nvSpPr>
        <p:spPr/>
        <p:txBody>
          <a:bodyPr/>
          <a:lstStyle/>
          <a:p>
            <a:fld id="{50BBD304-4FA8-44A0-8565-0ECBBC742C1E}" type="datetimeFigureOut">
              <a:rPr lang="en-GB" smtClean="0"/>
              <a:t>24/03/2022</a:t>
            </a:fld>
            <a:endParaRPr lang="en-GB"/>
          </a:p>
        </p:txBody>
      </p:sp>
      <p:sp>
        <p:nvSpPr>
          <p:cNvPr id="6" name="Footer Placeholder 5">
            <a:extLst>
              <a:ext uri="{FF2B5EF4-FFF2-40B4-BE49-F238E27FC236}">
                <a16:creationId xmlns:a16="http://schemas.microsoft.com/office/drawing/2014/main" id="{9D965A75-507A-4F4F-9FC6-63212ED8689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6343A40-E8F8-4054-B95D-ED0AACA1F1A1}"/>
              </a:ext>
            </a:extLst>
          </p:cNvPr>
          <p:cNvSpPr>
            <a:spLocks noGrp="1"/>
          </p:cNvSpPr>
          <p:nvPr>
            <p:ph type="sldNum" sz="quarter" idx="12"/>
          </p:nvPr>
        </p:nvSpPr>
        <p:spPr/>
        <p:txBody>
          <a:bodyPr/>
          <a:lstStyle/>
          <a:p>
            <a:fld id="{C1582620-B1E5-4A89-B52E-8C5D8731233D}" type="slidenum">
              <a:rPr lang="en-GB" smtClean="0"/>
              <a:t>‹#›</a:t>
            </a:fld>
            <a:endParaRPr lang="en-GB"/>
          </a:p>
        </p:txBody>
      </p:sp>
    </p:spTree>
    <p:extLst>
      <p:ext uri="{BB962C8B-B14F-4D97-AF65-F5344CB8AC3E}">
        <p14:creationId xmlns:p14="http://schemas.microsoft.com/office/powerpoint/2010/main" val="2597648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00585-52BD-4520-B9AA-97C05AF11F6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1673187-A323-4C7E-8109-3A7E8F4D04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2A4CEAE-B2CE-4CF4-A1DA-700BC8F21319}"/>
              </a:ext>
            </a:extLst>
          </p:cNvPr>
          <p:cNvSpPr>
            <a:spLocks noGrp="1"/>
          </p:cNvSpPr>
          <p:nvPr>
            <p:ph type="dt" sz="half" idx="10"/>
          </p:nvPr>
        </p:nvSpPr>
        <p:spPr/>
        <p:txBody>
          <a:bodyPr/>
          <a:lstStyle/>
          <a:p>
            <a:fld id="{50BBD304-4FA8-44A0-8565-0ECBBC742C1E}" type="datetimeFigureOut">
              <a:rPr lang="en-GB" smtClean="0"/>
              <a:t>24/03/2022</a:t>
            </a:fld>
            <a:endParaRPr lang="en-GB"/>
          </a:p>
        </p:txBody>
      </p:sp>
      <p:sp>
        <p:nvSpPr>
          <p:cNvPr id="5" name="Footer Placeholder 4">
            <a:extLst>
              <a:ext uri="{FF2B5EF4-FFF2-40B4-BE49-F238E27FC236}">
                <a16:creationId xmlns:a16="http://schemas.microsoft.com/office/drawing/2014/main" id="{7C3CE148-BF52-4456-A663-718DE4DE7B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203F434-93AE-4C2F-B9DA-797C5C0628AC}"/>
              </a:ext>
            </a:extLst>
          </p:cNvPr>
          <p:cNvSpPr>
            <a:spLocks noGrp="1"/>
          </p:cNvSpPr>
          <p:nvPr>
            <p:ph type="sldNum" sz="quarter" idx="12"/>
          </p:nvPr>
        </p:nvSpPr>
        <p:spPr/>
        <p:txBody>
          <a:bodyPr/>
          <a:lstStyle/>
          <a:p>
            <a:fld id="{C1582620-B1E5-4A89-B52E-8C5D8731233D}" type="slidenum">
              <a:rPr lang="en-GB" smtClean="0"/>
              <a:t>‹#›</a:t>
            </a:fld>
            <a:endParaRPr lang="en-GB"/>
          </a:p>
        </p:txBody>
      </p:sp>
    </p:spTree>
    <p:extLst>
      <p:ext uri="{BB962C8B-B14F-4D97-AF65-F5344CB8AC3E}">
        <p14:creationId xmlns:p14="http://schemas.microsoft.com/office/powerpoint/2010/main" val="947333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C24D90-A707-4954-8621-97C4178E20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D8B9D4F-74A2-4D64-9040-6AD866563A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3F23738-52A0-44ED-AD7D-F915B6D1A163}"/>
              </a:ext>
            </a:extLst>
          </p:cNvPr>
          <p:cNvSpPr>
            <a:spLocks noGrp="1"/>
          </p:cNvSpPr>
          <p:nvPr>
            <p:ph type="dt" sz="half" idx="10"/>
          </p:nvPr>
        </p:nvSpPr>
        <p:spPr/>
        <p:txBody>
          <a:bodyPr/>
          <a:lstStyle/>
          <a:p>
            <a:fld id="{50BBD304-4FA8-44A0-8565-0ECBBC742C1E}" type="datetimeFigureOut">
              <a:rPr lang="en-GB" smtClean="0"/>
              <a:t>24/03/2022</a:t>
            </a:fld>
            <a:endParaRPr lang="en-GB"/>
          </a:p>
        </p:txBody>
      </p:sp>
      <p:sp>
        <p:nvSpPr>
          <p:cNvPr id="5" name="Footer Placeholder 4">
            <a:extLst>
              <a:ext uri="{FF2B5EF4-FFF2-40B4-BE49-F238E27FC236}">
                <a16:creationId xmlns:a16="http://schemas.microsoft.com/office/drawing/2014/main" id="{EBCB44B2-C180-4791-A592-6A661C41FE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2E4E784-9D77-4CBF-A4DB-3A42520E9F1B}"/>
              </a:ext>
            </a:extLst>
          </p:cNvPr>
          <p:cNvSpPr>
            <a:spLocks noGrp="1"/>
          </p:cNvSpPr>
          <p:nvPr>
            <p:ph type="sldNum" sz="quarter" idx="12"/>
          </p:nvPr>
        </p:nvSpPr>
        <p:spPr/>
        <p:txBody>
          <a:bodyPr/>
          <a:lstStyle/>
          <a:p>
            <a:fld id="{C1582620-B1E5-4A89-B52E-8C5D8731233D}" type="slidenum">
              <a:rPr lang="en-GB" smtClean="0"/>
              <a:t>‹#›</a:t>
            </a:fld>
            <a:endParaRPr lang="en-GB"/>
          </a:p>
        </p:txBody>
      </p:sp>
    </p:spTree>
    <p:extLst>
      <p:ext uri="{BB962C8B-B14F-4D97-AF65-F5344CB8AC3E}">
        <p14:creationId xmlns:p14="http://schemas.microsoft.com/office/powerpoint/2010/main" val="1001964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544974-A78D-422D-9427-B49CB808CC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ED3AD60-18BD-4AF0-AEE2-2282785615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C1CEDCC-FF79-4DE1-B997-D6AEAD9620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BBD304-4FA8-44A0-8565-0ECBBC742C1E}" type="datetimeFigureOut">
              <a:rPr lang="en-GB" smtClean="0"/>
              <a:t>24/03/2022</a:t>
            </a:fld>
            <a:endParaRPr lang="en-GB"/>
          </a:p>
        </p:txBody>
      </p:sp>
      <p:sp>
        <p:nvSpPr>
          <p:cNvPr id="5" name="Footer Placeholder 4">
            <a:extLst>
              <a:ext uri="{FF2B5EF4-FFF2-40B4-BE49-F238E27FC236}">
                <a16:creationId xmlns:a16="http://schemas.microsoft.com/office/drawing/2014/main" id="{34871AB6-7754-4FC7-BF9A-DBA2AF2191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98074F95-B5D0-4660-9EE8-77E5FB291A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582620-B1E5-4A89-B52E-8C5D8731233D}" type="slidenum">
              <a:rPr lang="en-GB" smtClean="0"/>
              <a:t>‹#›</a:t>
            </a:fld>
            <a:endParaRPr lang="en-GB"/>
          </a:p>
        </p:txBody>
      </p:sp>
    </p:spTree>
    <p:extLst>
      <p:ext uri="{BB962C8B-B14F-4D97-AF65-F5344CB8AC3E}">
        <p14:creationId xmlns:p14="http://schemas.microsoft.com/office/powerpoint/2010/main" val="901163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wirling meteorite">
            <a:extLst>
              <a:ext uri="{FF2B5EF4-FFF2-40B4-BE49-F238E27FC236}">
                <a16:creationId xmlns:a16="http://schemas.microsoft.com/office/drawing/2014/main" id="{121441C2-345F-4D03-ACE1-5667828FF320}"/>
              </a:ext>
            </a:extLst>
          </p:cNvPr>
          <p:cNvPicPr>
            <a:picLocks noChangeAspect="1"/>
          </p:cNvPicPr>
          <p:nvPr/>
        </p:nvPicPr>
        <p:blipFill rotWithShape="1">
          <a:blip r:embed="rId2">
            <a:alphaModFix/>
          </a:blip>
          <a:srcRect t="157" b="12971"/>
          <a:stretch/>
        </p:blipFill>
        <p:spPr>
          <a:xfrm>
            <a:off x="-3123597" y="-1685261"/>
            <a:ext cx="18184010" cy="10228521"/>
          </a:xfrm>
          <a:prstGeom prst="rect">
            <a:avLst/>
          </a:prstGeom>
        </p:spPr>
      </p:pic>
      <p:sp>
        <p:nvSpPr>
          <p:cNvPr id="8" name="Rectangle 7">
            <a:extLst>
              <a:ext uri="{FF2B5EF4-FFF2-40B4-BE49-F238E27FC236}">
                <a16:creationId xmlns:a16="http://schemas.microsoft.com/office/drawing/2014/main" id="{2D89D761-4DC2-4483-8AEF-8E398490011C}"/>
              </a:ext>
            </a:extLst>
          </p:cNvPr>
          <p:cNvSpPr/>
          <p:nvPr/>
        </p:nvSpPr>
        <p:spPr>
          <a:xfrm>
            <a:off x="710609" y="2819400"/>
            <a:ext cx="10770782" cy="1515533"/>
          </a:xfrm>
          <a:prstGeom prst="rect">
            <a:avLst/>
          </a:prstGeom>
          <a:solidFill>
            <a:sysClr val="window" lastClr="FFFFFF">
              <a:alpha val="90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7" name="Title 1">
            <a:extLst>
              <a:ext uri="{FF2B5EF4-FFF2-40B4-BE49-F238E27FC236}">
                <a16:creationId xmlns:a16="http://schemas.microsoft.com/office/drawing/2014/main" id="{0C445135-A882-4FB8-B60E-EE64CAA0604E}"/>
              </a:ext>
            </a:extLst>
          </p:cNvPr>
          <p:cNvSpPr txBox="1">
            <a:spLocks/>
          </p:cNvSpPr>
          <p:nvPr/>
        </p:nvSpPr>
        <p:spPr>
          <a:xfrm>
            <a:off x="1524000" y="2523068"/>
            <a:ext cx="9144000" cy="1625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6000" b="0" i="0" u="none" strike="noStrike" kern="1200" cap="none" spc="0" normalizeH="0" baseline="0" noProof="0" dirty="0">
                <a:ln>
                  <a:noFill/>
                </a:ln>
                <a:effectLst/>
                <a:uLnTx/>
                <a:uFillTx/>
                <a:latin typeface="Calibri Light" panose="020F0302020204030204"/>
                <a:ea typeface="+mj-ea"/>
                <a:cs typeface="+mj-cs"/>
              </a:rPr>
              <a:t>The Shapiro Delay</a:t>
            </a:r>
          </a:p>
        </p:txBody>
      </p:sp>
    </p:spTree>
    <p:extLst>
      <p:ext uri="{BB962C8B-B14F-4D97-AF65-F5344CB8AC3E}">
        <p14:creationId xmlns:p14="http://schemas.microsoft.com/office/powerpoint/2010/main" val="4277420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wirling meteorite">
            <a:extLst>
              <a:ext uri="{FF2B5EF4-FFF2-40B4-BE49-F238E27FC236}">
                <a16:creationId xmlns:a16="http://schemas.microsoft.com/office/drawing/2014/main" id="{32FB1110-B619-46E5-8787-8B7BD6226901}"/>
              </a:ext>
            </a:extLst>
          </p:cNvPr>
          <p:cNvPicPr>
            <a:picLocks noChangeAspect="1"/>
          </p:cNvPicPr>
          <p:nvPr/>
        </p:nvPicPr>
        <p:blipFill rotWithShape="1">
          <a:blip r:embed="rId2">
            <a:alphaModFix/>
          </a:blip>
          <a:srcRect t="157" b="12971"/>
          <a:stretch/>
        </p:blipFill>
        <p:spPr>
          <a:xfrm>
            <a:off x="-3123597" y="-1685261"/>
            <a:ext cx="18184010" cy="10228521"/>
          </a:xfrm>
          <a:prstGeom prst="rect">
            <a:avLst/>
          </a:prstGeom>
        </p:spPr>
      </p:pic>
      <p:sp>
        <p:nvSpPr>
          <p:cNvPr id="9" name="Rectangle 8">
            <a:extLst>
              <a:ext uri="{FF2B5EF4-FFF2-40B4-BE49-F238E27FC236}">
                <a16:creationId xmlns:a16="http://schemas.microsoft.com/office/drawing/2014/main" id="{06F903B6-4CCA-4071-8FA4-C675401BFBAC}"/>
              </a:ext>
            </a:extLst>
          </p:cNvPr>
          <p:cNvSpPr/>
          <p:nvPr/>
        </p:nvSpPr>
        <p:spPr>
          <a:xfrm>
            <a:off x="710609" y="595422"/>
            <a:ext cx="10770782" cy="5667154"/>
          </a:xfrm>
          <a:prstGeom prst="rect">
            <a:avLst/>
          </a:prstGeom>
          <a:solidFill>
            <a:sysClr val="window" lastClr="FFFFFF">
              <a:alpha val="90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0" name="Title 1">
            <a:extLst>
              <a:ext uri="{FF2B5EF4-FFF2-40B4-BE49-F238E27FC236}">
                <a16:creationId xmlns:a16="http://schemas.microsoft.com/office/drawing/2014/main" id="{B7B718F0-85CA-4851-B173-62ED90402918}"/>
              </a:ext>
            </a:extLst>
          </p:cNvPr>
          <p:cNvSpPr txBox="1">
            <a:spLocks/>
          </p:cNvSpPr>
          <p:nvPr/>
        </p:nvSpPr>
        <p:spPr>
          <a:xfrm>
            <a:off x="838200" y="1065862"/>
            <a:ext cx="4063999" cy="47262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r" defTabSz="914400" rtl="0" eaLnBrk="1" fontAlgn="auto" latinLnBrk="0" hangingPunct="1">
              <a:lnSpc>
                <a:spcPct val="90000"/>
              </a:lnSpc>
              <a:spcBef>
                <a:spcPct val="0"/>
              </a:spcBef>
              <a:spcAft>
                <a:spcPts val="0"/>
              </a:spcAft>
              <a:buClrTx/>
              <a:buSzTx/>
              <a:buFontTx/>
              <a:buNone/>
              <a:tabLst/>
              <a:defRPr/>
            </a:pPr>
            <a:r>
              <a:rPr kumimoji="0" lang="en-GB" sz="5400" b="0" i="0" u="none" strike="noStrike" kern="1200" cap="none" spc="0" normalizeH="0" baseline="0" noProof="0">
                <a:ln>
                  <a:noFill/>
                </a:ln>
                <a:solidFill>
                  <a:sysClr val="windowText" lastClr="000000"/>
                </a:solidFill>
                <a:effectLst/>
                <a:uLnTx/>
                <a:uFillTx/>
                <a:latin typeface="Calibri Light" panose="020F0302020204030204"/>
                <a:ea typeface="+mj-ea"/>
                <a:cs typeface="+mj-cs"/>
              </a:rPr>
              <a:t>Background</a:t>
            </a:r>
            <a:endParaRPr kumimoji="0" lang="en-GB" sz="5400" b="0" i="0" u="none" strike="noStrike" kern="1200" cap="none" spc="0" normalizeH="0" baseline="0" noProof="0" dirty="0">
              <a:ln>
                <a:noFill/>
              </a:ln>
              <a:solidFill>
                <a:sysClr val="windowText" lastClr="000000"/>
              </a:solidFill>
              <a:effectLst/>
              <a:uLnTx/>
              <a:uFillTx/>
              <a:latin typeface="Calibri Light" panose="020F0302020204030204"/>
              <a:ea typeface="+mj-ea"/>
              <a:cs typeface="+mj-cs"/>
            </a:endParaRPr>
          </a:p>
        </p:txBody>
      </p:sp>
      <p:sp>
        <p:nvSpPr>
          <p:cNvPr id="11" name="Content Placeholder 2">
            <a:extLst>
              <a:ext uri="{FF2B5EF4-FFF2-40B4-BE49-F238E27FC236}">
                <a16:creationId xmlns:a16="http://schemas.microsoft.com/office/drawing/2014/main" id="{EFE6A788-60AF-4A55-8218-22AFA6E7A4BC}"/>
              </a:ext>
            </a:extLst>
          </p:cNvPr>
          <p:cNvSpPr txBox="1">
            <a:spLocks/>
          </p:cNvSpPr>
          <p:nvPr/>
        </p:nvSpPr>
        <p:spPr>
          <a:xfrm>
            <a:off x="5155379" y="1065862"/>
            <a:ext cx="5744685" cy="4726276"/>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32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Neutron stars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32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Pulsars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32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Times of Arrival (TOA)</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32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Line of sight (LOS)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32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Romer Delay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32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Einstein Delay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9586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wirling meteorite">
            <a:extLst>
              <a:ext uri="{FF2B5EF4-FFF2-40B4-BE49-F238E27FC236}">
                <a16:creationId xmlns:a16="http://schemas.microsoft.com/office/drawing/2014/main" id="{F278C698-DBC7-4D95-B5E1-BC1A4D29F5DF}"/>
              </a:ext>
            </a:extLst>
          </p:cNvPr>
          <p:cNvPicPr>
            <a:picLocks noChangeAspect="1"/>
          </p:cNvPicPr>
          <p:nvPr/>
        </p:nvPicPr>
        <p:blipFill rotWithShape="1">
          <a:blip r:embed="rId3">
            <a:alphaModFix/>
          </a:blip>
          <a:srcRect t="157" b="12971"/>
          <a:stretch/>
        </p:blipFill>
        <p:spPr>
          <a:xfrm>
            <a:off x="-2996005" y="-1685262"/>
            <a:ext cx="18184010" cy="10228521"/>
          </a:xfrm>
          <a:prstGeom prst="rect">
            <a:avLst/>
          </a:prstGeom>
        </p:spPr>
      </p:pic>
      <p:sp>
        <p:nvSpPr>
          <p:cNvPr id="5" name="Rectangle 4">
            <a:extLst>
              <a:ext uri="{FF2B5EF4-FFF2-40B4-BE49-F238E27FC236}">
                <a16:creationId xmlns:a16="http://schemas.microsoft.com/office/drawing/2014/main" id="{9EA054A0-8E4D-4103-B6DB-42E441BD384E}"/>
              </a:ext>
            </a:extLst>
          </p:cNvPr>
          <p:cNvSpPr/>
          <p:nvPr/>
        </p:nvSpPr>
        <p:spPr>
          <a:xfrm>
            <a:off x="710609" y="595422"/>
            <a:ext cx="10770782" cy="566715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58C37931-4F87-4AAC-B56C-5F02441B3165}"/>
              </a:ext>
            </a:extLst>
          </p:cNvPr>
          <p:cNvSpPr>
            <a:spLocks noGrp="1"/>
          </p:cNvSpPr>
          <p:nvPr>
            <p:ph idx="1"/>
          </p:nvPr>
        </p:nvSpPr>
        <p:spPr>
          <a:xfrm>
            <a:off x="855132" y="809091"/>
            <a:ext cx="10498667" cy="5239817"/>
          </a:xfrm>
        </p:spPr>
        <p:txBody>
          <a:bodyPr>
            <a:normAutofit/>
          </a:bodyPr>
          <a:lstStyle/>
          <a:p>
            <a:r>
              <a:rPr lang="en-GB" dirty="0"/>
              <a:t>Neutron Stars</a:t>
            </a:r>
          </a:p>
          <a:p>
            <a:pPr lvl="1"/>
            <a:r>
              <a:rPr lang="en-GB" dirty="0"/>
              <a:t>Compact stars</a:t>
            </a:r>
          </a:p>
          <a:p>
            <a:pPr lvl="1"/>
            <a:r>
              <a:rPr lang="en-GB" dirty="0"/>
              <a:t>Masses similar to our Sun</a:t>
            </a:r>
          </a:p>
          <a:p>
            <a:pPr lvl="1"/>
            <a:r>
              <a:rPr lang="en-GB" dirty="0"/>
              <a:t>Spin rapidly</a:t>
            </a:r>
          </a:p>
          <a:p>
            <a:pPr lvl="1"/>
            <a:r>
              <a:rPr lang="en-GB" dirty="0"/>
              <a:t>Originate from binary systems</a:t>
            </a:r>
          </a:p>
          <a:p>
            <a:pPr lvl="1"/>
            <a:r>
              <a:rPr lang="en-GB" dirty="0"/>
              <a:t>Emits beams of electromagnetic radiation</a:t>
            </a:r>
          </a:p>
          <a:p>
            <a:r>
              <a:rPr lang="en-GB" dirty="0"/>
              <a:t>Pulsars</a:t>
            </a:r>
          </a:p>
          <a:p>
            <a:pPr lvl="1"/>
            <a:r>
              <a:rPr lang="en-GB" dirty="0"/>
              <a:t>Neutron stars that have their magnetic poles aligned with the Earth </a:t>
            </a:r>
          </a:p>
          <a:p>
            <a:r>
              <a:rPr lang="en-GB" dirty="0"/>
              <a:t>Line of Sight (LOS)</a:t>
            </a:r>
          </a:p>
          <a:p>
            <a:pPr lvl="1"/>
            <a:r>
              <a:rPr lang="en-GB" dirty="0"/>
              <a:t>Axis connecting pulsar and Earth</a:t>
            </a:r>
          </a:p>
        </p:txBody>
      </p:sp>
    </p:spTree>
    <p:extLst>
      <p:ext uri="{BB962C8B-B14F-4D97-AF65-F5344CB8AC3E}">
        <p14:creationId xmlns:p14="http://schemas.microsoft.com/office/powerpoint/2010/main" val="1533107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wirling meteorite">
            <a:extLst>
              <a:ext uri="{FF2B5EF4-FFF2-40B4-BE49-F238E27FC236}">
                <a16:creationId xmlns:a16="http://schemas.microsoft.com/office/drawing/2014/main" id="{F278C698-DBC7-4D95-B5E1-BC1A4D29F5DF}"/>
              </a:ext>
            </a:extLst>
          </p:cNvPr>
          <p:cNvPicPr>
            <a:picLocks noChangeAspect="1"/>
          </p:cNvPicPr>
          <p:nvPr/>
        </p:nvPicPr>
        <p:blipFill rotWithShape="1">
          <a:blip r:embed="rId3">
            <a:alphaModFix/>
          </a:blip>
          <a:srcRect t="157" b="12971"/>
          <a:stretch/>
        </p:blipFill>
        <p:spPr>
          <a:xfrm>
            <a:off x="-2996005" y="-1685262"/>
            <a:ext cx="18184010" cy="10228521"/>
          </a:xfrm>
          <a:prstGeom prst="rect">
            <a:avLst/>
          </a:prstGeom>
        </p:spPr>
      </p:pic>
      <p:sp>
        <p:nvSpPr>
          <p:cNvPr id="5" name="Rectangle 4">
            <a:extLst>
              <a:ext uri="{FF2B5EF4-FFF2-40B4-BE49-F238E27FC236}">
                <a16:creationId xmlns:a16="http://schemas.microsoft.com/office/drawing/2014/main" id="{9EA054A0-8E4D-4103-B6DB-42E441BD384E}"/>
              </a:ext>
            </a:extLst>
          </p:cNvPr>
          <p:cNvSpPr/>
          <p:nvPr/>
        </p:nvSpPr>
        <p:spPr>
          <a:xfrm>
            <a:off x="710609" y="595422"/>
            <a:ext cx="10770782" cy="566715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Content Placeholder 16" descr="Diagram&#10;&#10;Description automatically generated">
            <a:extLst>
              <a:ext uri="{FF2B5EF4-FFF2-40B4-BE49-F238E27FC236}">
                <a16:creationId xmlns:a16="http://schemas.microsoft.com/office/drawing/2014/main" id="{6B47A15E-6AE4-41D5-A4A4-9987701947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97267" y="998689"/>
            <a:ext cx="5397465" cy="4860621"/>
          </a:xfrm>
          <a:prstGeom prst="rect">
            <a:avLst/>
          </a:prstGeom>
        </p:spPr>
      </p:pic>
    </p:spTree>
    <p:extLst>
      <p:ext uri="{BB962C8B-B14F-4D97-AF65-F5344CB8AC3E}">
        <p14:creationId xmlns:p14="http://schemas.microsoft.com/office/powerpoint/2010/main" val="3973140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wirling meteorite">
            <a:extLst>
              <a:ext uri="{FF2B5EF4-FFF2-40B4-BE49-F238E27FC236}">
                <a16:creationId xmlns:a16="http://schemas.microsoft.com/office/drawing/2014/main" id="{F278C698-DBC7-4D95-B5E1-BC1A4D29F5DF}"/>
              </a:ext>
            </a:extLst>
          </p:cNvPr>
          <p:cNvPicPr>
            <a:picLocks noChangeAspect="1"/>
          </p:cNvPicPr>
          <p:nvPr/>
        </p:nvPicPr>
        <p:blipFill rotWithShape="1">
          <a:blip r:embed="rId3">
            <a:alphaModFix/>
          </a:blip>
          <a:srcRect t="157" b="12971"/>
          <a:stretch/>
        </p:blipFill>
        <p:spPr>
          <a:xfrm>
            <a:off x="-2996005" y="-1685262"/>
            <a:ext cx="18184010" cy="10228521"/>
          </a:xfrm>
          <a:prstGeom prst="rect">
            <a:avLst/>
          </a:prstGeom>
        </p:spPr>
      </p:pic>
      <p:sp>
        <p:nvSpPr>
          <p:cNvPr id="5" name="Rectangle 4">
            <a:extLst>
              <a:ext uri="{FF2B5EF4-FFF2-40B4-BE49-F238E27FC236}">
                <a16:creationId xmlns:a16="http://schemas.microsoft.com/office/drawing/2014/main" id="{9EA054A0-8E4D-4103-B6DB-42E441BD384E}"/>
              </a:ext>
            </a:extLst>
          </p:cNvPr>
          <p:cNvSpPr/>
          <p:nvPr/>
        </p:nvSpPr>
        <p:spPr>
          <a:xfrm>
            <a:off x="710609" y="595422"/>
            <a:ext cx="10770782" cy="566715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58C37931-4F87-4AAC-B56C-5F02441B3165}"/>
              </a:ext>
            </a:extLst>
          </p:cNvPr>
          <p:cNvSpPr>
            <a:spLocks noGrp="1"/>
          </p:cNvSpPr>
          <p:nvPr>
            <p:ph idx="1"/>
          </p:nvPr>
        </p:nvSpPr>
        <p:spPr>
          <a:xfrm>
            <a:off x="855132" y="809091"/>
            <a:ext cx="10498667" cy="5239817"/>
          </a:xfrm>
        </p:spPr>
        <p:txBody>
          <a:bodyPr>
            <a:normAutofit fontScale="92500" lnSpcReduction="10000"/>
          </a:bodyPr>
          <a:lstStyle/>
          <a:p>
            <a:r>
              <a:rPr lang="en-GB" dirty="0"/>
              <a:t>Pulsar Timing</a:t>
            </a:r>
          </a:p>
          <a:p>
            <a:pPr lvl="1"/>
            <a:r>
              <a:rPr lang="en-GB" dirty="0"/>
              <a:t>The process of creating a model that accounts for every single pulse from a pulsar over long periods of time</a:t>
            </a:r>
          </a:p>
          <a:p>
            <a:r>
              <a:rPr lang="en-GB" dirty="0"/>
              <a:t>Times of Arrival (TOAs)</a:t>
            </a:r>
          </a:p>
          <a:p>
            <a:pPr lvl="1"/>
            <a:r>
              <a:rPr lang="en-GB" dirty="0"/>
              <a:t>The measurement from pulsar timing</a:t>
            </a:r>
          </a:p>
          <a:p>
            <a:pPr lvl="1"/>
            <a:r>
              <a:rPr lang="en-GB" dirty="0"/>
              <a:t>Absolute Time Instant</a:t>
            </a:r>
          </a:p>
          <a:p>
            <a:pPr lvl="1"/>
            <a:r>
              <a:rPr lang="en-GB" dirty="0"/>
              <a:t>Timing Residuals – difference between the measured TOA and the predicted value</a:t>
            </a:r>
          </a:p>
          <a:p>
            <a:r>
              <a:rPr lang="en-GB" dirty="0"/>
              <a:t>Pulsar Timing Arrays</a:t>
            </a:r>
          </a:p>
          <a:p>
            <a:pPr lvl="1"/>
            <a:r>
              <a:rPr lang="en-GB" dirty="0" err="1"/>
              <a:t>NANOGrav</a:t>
            </a:r>
            <a:r>
              <a:rPr lang="en-GB" dirty="0"/>
              <a:t> (North American Nanohertz Observatory for Gravitational Waves)</a:t>
            </a:r>
          </a:p>
          <a:p>
            <a:pPr lvl="2"/>
            <a:r>
              <a:rPr lang="en-GB" dirty="0"/>
              <a:t>Uses data from the Arecibo and Green Bank radio telescopes</a:t>
            </a:r>
          </a:p>
          <a:p>
            <a:pPr lvl="1"/>
            <a:r>
              <a:rPr lang="en-GB" dirty="0"/>
              <a:t>EPTA (European Pulsar Timing Array)</a:t>
            </a:r>
          </a:p>
          <a:p>
            <a:pPr lvl="2"/>
            <a:r>
              <a:rPr lang="en-GB" dirty="0"/>
              <a:t>Uses data from 4 largest radio telescopes in Europe: 	</a:t>
            </a:r>
          </a:p>
          <a:p>
            <a:pPr lvl="3"/>
            <a:r>
              <a:rPr lang="en-GB" dirty="0"/>
              <a:t>Lovell Telescope</a:t>
            </a:r>
          </a:p>
          <a:p>
            <a:pPr lvl="3"/>
            <a:r>
              <a:rPr lang="en-GB" dirty="0" err="1"/>
              <a:t>Westerbork</a:t>
            </a:r>
            <a:r>
              <a:rPr lang="en-GB" dirty="0"/>
              <a:t> Synthesis Radio Telescope</a:t>
            </a:r>
          </a:p>
          <a:p>
            <a:pPr lvl="3"/>
            <a:r>
              <a:rPr lang="en-GB" dirty="0" err="1"/>
              <a:t>Effelsberg</a:t>
            </a:r>
            <a:r>
              <a:rPr lang="en-GB" dirty="0"/>
              <a:t> Telescope</a:t>
            </a:r>
          </a:p>
          <a:p>
            <a:pPr lvl="3"/>
            <a:r>
              <a:rPr lang="en-GB" dirty="0" err="1"/>
              <a:t>Nancay</a:t>
            </a:r>
            <a:r>
              <a:rPr lang="en-GB" dirty="0"/>
              <a:t> Radio Telescope</a:t>
            </a:r>
          </a:p>
        </p:txBody>
      </p:sp>
    </p:spTree>
    <p:extLst>
      <p:ext uri="{BB962C8B-B14F-4D97-AF65-F5344CB8AC3E}">
        <p14:creationId xmlns:p14="http://schemas.microsoft.com/office/powerpoint/2010/main" val="3330733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wirling meteorite">
            <a:extLst>
              <a:ext uri="{FF2B5EF4-FFF2-40B4-BE49-F238E27FC236}">
                <a16:creationId xmlns:a16="http://schemas.microsoft.com/office/drawing/2014/main" id="{9BCBBEA0-C1DA-4D07-ADC7-3D62D9310C88}"/>
              </a:ext>
            </a:extLst>
          </p:cNvPr>
          <p:cNvPicPr>
            <a:picLocks noChangeAspect="1"/>
          </p:cNvPicPr>
          <p:nvPr/>
        </p:nvPicPr>
        <p:blipFill rotWithShape="1">
          <a:blip r:embed="rId2">
            <a:alphaModFix/>
          </a:blip>
          <a:srcRect t="157" b="12971"/>
          <a:stretch/>
        </p:blipFill>
        <p:spPr>
          <a:xfrm>
            <a:off x="-2758937" y="-1685261"/>
            <a:ext cx="18184010" cy="10228521"/>
          </a:xfrm>
          <a:prstGeom prst="rect">
            <a:avLst/>
          </a:prstGeom>
        </p:spPr>
      </p:pic>
      <p:sp>
        <p:nvSpPr>
          <p:cNvPr id="5" name="Rectangle 4">
            <a:extLst>
              <a:ext uri="{FF2B5EF4-FFF2-40B4-BE49-F238E27FC236}">
                <a16:creationId xmlns:a16="http://schemas.microsoft.com/office/drawing/2014/main" id="{7E506CC4-070B-466D-B602-D756AC69C831}"/>
              </a:ext>
            </a:extLst>
          </p:cNvPr>
          <p:cNvSpPr/>
          <p:nvPr/>
        </p:nvSpPr>
        <p:spPr>
          <a:xfrm>
            <a:off x="710609" y="595422"/>
            <a:ext cx="10770782" cy="566715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F98AFB0D-B49E-4FC2-AF4E-A10360DB25AD}"/>
              </a:ext>
            </a:extLst>
          </p:cNvPr>
          <p:cNvSpPr>
            <a:spLocks noGrp="1"/>
          </p:cNvSpPr>
          <p:nvPr>
            <p:ph idx="1"/>
          </p:nvPr>
        </p:nvSpPr>
        <p:spPr/>
        <p:txBody>
          <a:bodyPr/>
          <a:lstStyle/>
          <a:p>
            <a:r>
              <a:rPr lang="en-GB" dirty="0" err="1"/>
              <a:t>Römer</a:t>
            </a:r>
            <a:r>
              <a:rPr lang="en-GB" dirty="0"/>
              <a:t> delay</a:t>
            </a:r>
          </a:p>
          <a:p>
            <a:pPr lvl="1"/>
            <a:r>
              <a:rPr lang="en-GB" dirty="0"/>
              <a:t>Classical light travel time across Earth’s orbit</a:t>
            </a:r>
          </a:p>
          <a:p>
            <a:r>
              <a:rPr lang="en-GB" dirty="0"/>
              <a:t>Einstein delay</a:t>
            </a:r>
          </a:p>
          <a:p>
            <a:pPr lvl="1"/>
            <a:r>
              <a:rPr lang="en-GB" dirty="0"/>
              <a:t>Accounts for the effects of gravitational redshift</a:t>
            </a:r>
          </a:p>
        </p:txBody>
      </p:sp>
    </p:spTree>
    <p:extLst>
      <p:ext uri="{BB962C8B-B14F-4D97-AF65-F5344CB8AC3E}">
        <p14:creationId xmlns:p14="http://schemas.microsoft.com/office/powerpoint/2010/main" val="1275380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28DC-C211-4B52-8BB1-49284AEA8FB7}"/>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7A9DB18-FD55-45FB-B704-38F01FB1A3B7}"/>
              </a:ext>
            </a:extLst>
          </p:cNvPr>
          <p:cNvSpPr>
            <a:spLocks noGrp="1"/>
          </p:cNvSpPr>
          <p:nvPr>
            <p:ph idx="1"/>
          </p:nvPr>
        </p:nvSpPr>
        <p:spPr/>
        <p:txBody>
          <a:bodyPr/>
          <a:lstStyle/>
          <a:p>
            <a:endParaRPr lang="en-GB"/>
          </a:p>
        </p:txBody>
      </p:sp>
      <p:pic>
        <p:nvPicPr>
          <p:cNvPr id="4" name="Picture 3" descr="A swirling meteorite">
            <a:extLst>
              <a:ext uri="{FF2B5EF4-FFF2-40B4-BE49-F238E27FC236}">
                <a16:creationId xmlns:a16="http://schemas.microsoft.com/office/drawing/2014/main" id="{0383413C-21F8-43D4-A92B-5D24AEE12288}"/>
              </a:ext>
            </a:extLst>
          </p:cNvPr>
          <p:cNvPicPr>
            <a:picLocks noChangeAspect="1"/>
          </p:cNvPicPr>
          <p:nvPr/>
        </p:nvPicPr>
        <p:blipFill rotWithShape="1">
          <a:blip r:embed="rId3">
            <a:alphaModFix/>
          </a:blip>
          <a:srcRect t="157" b="12971"/>
          <a:stretch/>
        </p:blipFill>
        <p:spPr>
          <a:xfrm>
            <a:off x="-2521873" y="-1685261"/>
            <a:ext cx="18184010" cy="10228521"/>
          </a:xfrm>
          <a:prstGeom prst="rect">
            <a:avLst/>
          </a:prstGeom>
        </p:spPr>
      </p:pic>
      <p:sp>
        <p:nvSpPr>
          <p:cNvPr id="5" name="Rectangle 4">
            <a:extLst>
              <a:ext uri="{FF2B5EF4-FFF2-40B4-BE49-F238E27FC236}">
                <a16:creationId xmlns:a16="http://schemas.microsoft.com/office/drawing/2014/main" id="{132FBCB0-D5A7-4BD0-B287-EB19D89C0201}"/>
              </a:ext>
            </a:extLst>
          </p:cNvPr>
          <p:cNvSpPr/>
          <p:nvPr/>
        </p:nvSpPr>
        <p:spPr>
          <a:xfrm>
            <a:off x="710609" y="595423"/>
            <a:ext cx="10770782" cy="566715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itle 1">
            <a:extLst>
              <a:ext uri="{FF2B5EF4-FFF2-40B4-BE49-F238E27FC236}">
                <a16:creationId xmlns:a16="http://schemas.microsoft.com/office/drawing/2014/main" id="{74E411D3-9573-4415-9E21-8C7A2FAF984D}"/>
              </a:ext>
            </a:extLst>
          </p:cNvPr>
          <p:cNvSpPr txBox="1">
            <a:spLocks/>
          </p:cNvSpPr>
          <p:nvPr/>
        </p:nvSpPr>
        <p:spPr>
          <a:xfrm>
            <a:off x="2786093" y="681037"/>
            <a:ext cx="6619811" cy="1344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t>What is the Shapiro Delay?</a:t>
            </a:r>
          </a:p>
        </p:txBody>
      </p:sp>
      <p:sp>
        <p:nvSpPr>
          <p:cNvPr id="7" name="Content Placeholder 2">
            <a:extLst>
              <a:ext uri="{FF2B5EF4-FFF2-40B4-BE49-F238E27FC236}">
                <a16:creationId xmlns:a16="http://schemas.microsoft.com/office/drawing/2014/main" id="{9A258B1B-6EC3-4F12-A867-FEF8EA363B6D}"/>
              </a:ext>
            </a:extLst>
          </p:cNvPr>
          <p:cNvSpPr txBox="1">
            <a:spLocks/>
          </p:cNvSpPr>
          <p:nvPr/>
        </p:nvSpPr>
        <p:spPr>
          <a:xfrm>
            <a:off x="838201" y="2207155"/>
            <a:ext cx="10515600" cy="37730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400" dirty="0"/>
              <a:t>Named after Irwin Shapiro, who wrote a paper predicting this phenomenon in 1964, titled: The Fourth Test of General Relativity (REF1)</a:t>
            </a:r>
          </a:p>
          <a:p>
            <a:r>
              <a:rPr lang="en-GB" sz="2400" dirty="0"/>
              <a:t>The Shapiro delay itself cannot be observed directly, whereas it is possible to observe some changes in the Shapiro delay. (REF2)</a:t>
            </a:r>
          </a:p>
          <a:p>
            <a:r>
              <a:rPr lang="en-GB" sz="2400" dirty="0"/>
              <a:t>“Because, according to the general theory, the speed of a light wave depends on the strength of the gravitational potential along its path, these time delays should thereby be increased by almost 2x10</a:t>
            </a:r>
            <a:r>
              <a:rPr lang="en-GB" sz="2400" baseline="30000" dirty="0"/>
              <a:t>-4</a:t>
            </a:r>
            <a:r>
              <a:rPr lang="en-GB" sz="2400" dirty="0"/>
              <a:t> sec when the radar pulses pass near the Sun” – fourth test of general relativity, Irwin Shapiro (REF1)</a:t>
            </a:r>
          </a:p>
        </p:txBody>
      </p:sp>
    </p:spTree>
    <p:extLst>
      <p:ext uri="{BB962C8B-B14F-4D97-AF65-F5344CB8AC3E}">
        <p14:creationId xmlns:p14="http://schemas.microsoft.com/office/powerpoint/2010/main" val="2066486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wirling meteorite">
            <a:extLst>
              <a:ext uri="{FF2B5EF4-FFF2-40B4-BE49-F238E27FC236}">
                <a16:creationId xmlns:a16="http://schemas.microsoft.com/office/drawing/2014/main" id="{1EC1C0E9-B7CD-4ACB-A5C7-24C56CF687DD}"/>
              </a:ext>
            </a:extLst>
          </p:cNvPr>
          <p:cNvPicPr>
            <a:picLocks noChangeAspect="1"/>
          </p:cNvPicPr>
          <p:nvPr/>
        </p:nvPicPr>
        <p:blipFill rotWithShape="1">
          <a:blip r:embed="rId2">
            <a:alphaModFix/>
          </a:blip>
          <a:srcRect t="157" b="12971"/>
          <a:stretch/>
        </p:blipFill>
        <p:spPr>
          <a:xfrm>
            <a:off x="-2394873" y="-1685261"/>
            <a:ext cx="18184010" cy="10228521"/>
          </a:xfrm>
          <a:prstGeom prst="rect">
            <a:avLst/>
          </a:prstGeom>
        </p:spPr>
      </p:pic>
      <p:sp>
        <p:nvSpPr>
          <p:cNvPr id="4" name="Rectangle 3">
            <a:extLst>
              <a:ext uri="{FF2B5EF4-FFF2-40B4-BE49-F238E27FC236}">
                <a16:creationId xmlns:a16="http://schemas.microsoft.com/office/drawing/2014/main" id="{0068D2E3-B1A9-4B96-9E0D-C81923AF659D}"/>
              </a:ext>
            </a:extLst>
          </p:cNvPr>
          <p:cNvSpPr/>
          <p:nvPr/>
        </p:nvSpPr>
        <p:spPr>
          <a:xfrm>
            <a:off x="709084" y="595422"/>
            <a:ext cx="10770782" cy="566715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itle 1">
            <a:extLst>
              <a:ext uri="{FF2B5EF4-FFF2-40B4-BE49-F238E27FC236}">
                <a16:creationId xmlns:a16="http://schemas.microsoft.com/office/drawing/2014/main" id="{84E8942C-B119-47B6-B78D-712AF8ECFB7E}"/>
              </a:ext>
            </a:extLst>
          </p:cNvPr>
          <p:cNvSpPr>
            <a:spLocks noGrp="1"/>
          </p:cNvSpPr>
          <p:nvPr>
            <p:ph type="title"/>
          </p:nvPr>
        </p:nvSpPr>
        <p:spPr>
          <a:xfrm>
            <a:off x="3258621" y="525992"/>
            <a:ext cx="5671710" cy="1807305"/>
          </a:xfrm>
        </p:spPr>
        <p:txBody>
          <a:bodyPr>
            <a:normAutofit/>
          </a:bodyPr>
          <a:lstStyle/>
          <a:p>
            <a:r>
              <a:rPr lang="en-GB" dirty="0"/>
              <a:t>Why do we measure it?</a:t>
            </a:r>
          </a:p>
        </p:txBody>
      </p:sp>
      <p:sp>
        <p:nvSpPr>
          <p:cNvPr id="7" name="Content Placeholder 2">
            <a:extLst>
              <a:ext uri="{FF2B5EF4-FFF2-40B4-BE49-F238E27FC236}">
                <a16:creationId xmlns:a16="http://schemas.microsoft.com/office/drawing/2014/main" id="{5997C1DD-85DA-4F88-9B4C-549C168B5E83}"/>
              </a:ext>
            </a:extLst>
          </p:cNvPr>
          <p:cNvSpPr>
            <a:spLocks noGrp="1"/>
          </p:cNvSpPr>
          <p:nvPr>
            <p:ph idx="1"/>
          </p:nvPr>
        </p:nvSpPr>
        <p:spPr>
          <a:xfrm>
            <a:off x="917109" y="2172430"/>
            <a:ext cx="10354733" cy="3843666"/>
          </a:xfrm>
        </p:spPr>
        <p:txBody>
          <a:bodyPr>
            <a:noAutofit/>
          </a:bodyPr>
          <a:lstStyle/>
          <a:p>
            <a:r>
              <a:rPr lang="en-GB" sz="2400" dirty="0"/>
              <a:t>It is of great interest to obtain more neutron star mass measurements, in order to probe a wider parameter space of the EOS and to better understand the true distribution of neutron star masses. </a:t>
            </a:r>
          </a:p>
          <a:p>
            <a:r>
              <a:rPr lang="en-GB" sz="2400" dirty="0"/>
              <a:t>Can yield precise mass for both a millisecond pulsar and its companion</a:t>
            </a:r>
          </a:p>
          <a:p>
            <a:r>
              <a:rPr lang="en-GB" sz="2400" dirty="0"/>
              <a:t>Determining how much effect this change in Shapiro delay will have on pulsar timing allows for the introduction of another correction term, allowing for the possibility of reducing timing noise, as well as improving the chances for detecting gravitational waves. </a:t>
            </a:r>
          </a:p>
        </p:txBody>
      </p:sp>
    </p:spTree>
    <p:extLst>
      <p:ext uri="{BB962C8B-B14F-4D97-AF65-F5344CB8AC3E}">
        <p14:creationId xmlns:p14="http://schemas.microsoft.com/office/powerpoint/2010/main" val="1836409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wirling meteorite">
            <a:extLst>
              <a:ext uri="{FF2B5EF4-FFF2-40B4-BE49-F238E27FC236}">
                <a16:creationId xmlns:a16="http://schemas.microsoft.com/office/drawing/2014/main" id="{BE65E142-9C40-4E87-94CA-8821FA71E7D8}"/>
              </a:ext>
            </a:extLst>
          </p:cNvPr>
          <p:cNvPicPr>
            <a:picLocks noChangeAspect="1"/>
          </p:cNvPicPr>
          <p:nvPr/>
        </p:nvPicPr>
        <p:blipFill rotWithShape="1">
          <a:blip r:embed="rId2">
            <a:alphaModFix/>
          </a:blip>
          <a:srcRect t="157" b="12971"/>
          <a:stretch/>
        </p:blipFill>
        <p:spPr>
          <a:xfrm>
            <a:off x="-2107007" y="-1685261"/>
            <a:ext cx="18184010" cy="10228521"/>
          </a:xfrm>
          <a:prstGeom prst="rect">
            <a:avLst/>
          </a:prstGeom>
        </p:spPr>
      </p:pic>
      <p:sp>
        <p:nvSpPr>
          <p:cNvPr id="4" name="Rectangle 3">
            <a:extLst>
              <a:ext uri="{FF2B5EF4-FFF2-40B4-BE49-F238E27FC236}">
                <a16:creationId xmlns:a16="http://schemas.microsoft.com/office/drawing/2014/main" id="{65783FAD-6E77-4DB7-A109-D7D9829F6901}"/>
              </a:ext>
            </a:extLst>
          </p:cNvPr>
          <p:cNvSpPr/>
          <p:nvPr/>
        </p:nvSpPr>
        <p:spPr>
          <a:xfrm>
            <a:off x="710609" y="595423"/>
            <a:ext cx="10770782" cy="566715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4F2FD3D-A8A8-43A4-8956-C7594DB0DD85}"/>
              </a:ext>
            </a:extLst>
          </p:cNvPr>
          <p:cNvSpPr>
            <a:spLocks noGrp="1"/>
          </p:cNvSpPr>
          <p:nvPr>
            <p:ph type="title"/>
          </p:nvPr>
        </p:nvSpPr>
        <p:spPr>
          <a:xfrm>
            <a:off x="838200" y="710959"/>
            <a:ext cx="10515600" cy="979729"/>
          </a:xfrm>
        </p:spPr>
        <p:txBody>
          <a:bodyPr/>
          <a:lstStyle/>
          <a:p>
            <a:pPr algn="ctr"/>
            <a:r>
              <a:rPr lang="en-GB" dirty="0"/>
              <a:t>When is it important?</a:t>
            </a:r>
          </a:p>
        </p:txBody>
      </p:sp>
      <p:sp>
        <p:nvSpPr>
          <p:cNvPr id="3" name="Content Placeholder 2">
            <a:extLst>
              <a:ext uri="{FF2B5EF4-FFF2-40B4-BE49-F238E27FC236}">
                <a16:creationId xmlns:a16="http://schemas.microsoft.com/office/drawing/2014/main" id="{926CD75D-37E5-469A-8767-D64ED8E89DB3}"/>
              </a:ext>
            </a:extLst>
          </p:cNvPr>
          <p:cNvSpPr>
            <a:spLocks noGrp="1"/>
          </p:cNvSpPr>
          <p:nvPr>
            <p:ph idx="1"/>
          </p:nvPr>
        </p:nvSpPr>
        <p:spPr>
          <a:xfrm>
            <a:off x="1718733" y="1795703"/>
            <a:ext cx="8754533" cy="4351338"/>
          </a:xfrm>
        </p:spPr>
        <p:txBody>
          <a:bodyPr/>
          <a:lstStyle/>
          <a:p>
            <a:r>
              <a:rPr lang="en-GB" dirty="0"/>
              <a:t>When the pulsar’s binary companion approaches the LOS</a:t>
            </a:r>
          </a:p>
          <a:p>
            <a:r>
              <a:rPr lang="en-GB" dirty="0"/>
              <a:t>When the inclination is close to 90</a:t>
            </a:r>
            <a:r>
              <a:rPr lang="en-GB" baseline="30000" dirty="0"/>
              <a:t>o</a:t>
            </a:r>
            <a:r>
              <a:rPr lang="en-GB" dirty="0"/>
              <a:t> </a:t>
            </a:r>
          </a:p>
          <a:p>
            <a:endParaRPr lang="en-GB" dirty="0"/>
          </a:p>
        </p:txBody>
      </p:sp>
    </p:spTree>
    <p:extLst>
      <p:ext uri="{BB962C8B-B14F-4D97-AF65-F5344CB8AC3E}">
        <p14:creationId xmlns:p14="http://schemas.microsoft.com/office/powerpoint/2010/main" val="411494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wirling meteorite">
            <a:extLst>
              <a:ext uri="{FF2B5EF4-FFF2-40B4-BE49-F238E27FC236}">
                <a16:creationId xmlns:a16="http://schemas.microsoft.com/office/drawing/2014/main" id="{BE65E142-9C40-4E87-94CA-8821FA71E7D8}"/>
              </a:ext>
            </a:extLst>
          </p:cNvPr>
          <p:cNvPicPr>
            <a:picLocks noChangeAspect="1"/>
          </p:cNvPicPr>
          <p:nvPr/>
        </p:nvPicPr>
        <p:blipFill rotWithShape="1">
          <a:blip r:embed="rId2">
            <a:alphaModFix/>
          </a:blip>
          <a:srcRect t="157" b="12971"/>
          <a:stretch/>
        </p:blipFill>
        <p:spPr>
          <a:xfrm>
            <a:off x="-2107007" y="-1685261"/>
            <a:ext cx="18184010" cy="10228521"/>
          </a:xfrm>
          <a:prstGeom prst="rect">
            <a:avLst/>
          </a:prstGeom>
        </p:spPr>
      </p:pic>
      <p:sp>
        <p:nvSpPr>
          <p:cNvPr id="4" name="Rectangle 3">
            <a:extLst>
              <a:ext uri="{FF2B5EF4-FFF2-40B4-BE49-F238E27FC236}">
                <a16:creationId xmlns:a16="http://schemas.microsoft.com/office/drawing/2014/main" id="{65783FAD-6E77-4DB7-A109-D7D9829F6901}"/>
              </a:ext>
            </a:extLst>
          </p:cNvPr>
          <p:cNvSpPr/>
          <p:nvPr/>
        </p:nvSpPr>
        <p:spPr>
          <a:xfrm>
            <a:off x="710609" y="595423"/>
            <a:ext cx="10770782" cy="566715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 name="Content Placeholder 4" descr="Chart&#10;&#10;Description automatically generated">
            <a:extLst>
              <a:ext uri="{FF2B5EF4-FFF2-40B4-BE49-F238E27FC236}">
                <a16:creationId xmlns:a16="http://schemas.microsoft.com/office/drawing/2014/main" id="{13D17548-5C18-477C-A1D0-734C5A3CE50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93829" y="782637"/>
            <a:ext cx="8204341" cy="5292725"/>
          </a:xfrm>
        </p:spPr>
      </p:pic>
    </p:spTree>
    <p:extLst>
      <p:ext uri="{BB962C8B-B14F-4D97-AF65-F5344CB8AC3E}">
        <p14:creationId xmlns:p14="http://schemas.microsoft.com/office/powerpoint/2010/main" val="3136567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wirling meteorite">
            <a:extLst>
              <a:ext uri="{FF2B5EF4-FFF2-40B4-BE49-F238E27FC236}">
                <a16:creationId xmlns:a16="http://schemas.microsoft.com/office/drawing/2014/main" id="{DA8DC6CD-36DD-4EE8-A322-7F64B11F3E52}"/>
              </a:ext>
            </a:extLst>
          </p:cNvPr>
          <p:cNvPicPr>
            <a:picLocks noChangeAspect="1"/>
          </p:cNvPicPr>
          <p:nvPr/>
        </p:nvPicPr>
        <p:blipFill rotWithShape="1">
          <a:blip r:embed="rId2">
            <a:alphaModFix/>
          </a:blip>
          <a:srcRect t="157" b="12971"/>
          <a:stretch/>
        </p:blipFill>
        <p:spPr>
          <a:xfrm>
            <a:off x="-1954607" y="-1685261"/>
            <a:ext cx="18184010" cy="10228521"/>
          </a:xfrm>
          <a:prstGeom prst="rect">
            <a:avLst/>
          </a:prstGeom>
        </p:spPr>
      </p:pic>
      <p:sp>
        <p:nvSpPr>
          <p:cNvPr id="4" name="Rectangle 3">
            <a:extLst>
              <a:ext uri="{FF2B5EF4-FFF2-40B4-BE49-F238E27FC236}">
                <a16:creationId xmlns:a16="http://schemas.microsoft.com/office/drawing/2014/main" id="{D262BCB0-171F-49AE-949F-0A158E7AE3C8}"/>
              </a:ext>
            </a:extLst>
          </p:cNvPr>
          <p:cNvSpPr/>
          <p:nvPr/>
        </p:nvSpPr>
        <p:spPr>
          <a:xfrm>
            <a:off x="710609" y="595423"/>
            <a:ext cx="10770782" cy="566715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8F36547C-1DDF-4FFB-A3CD-C0A1812CE07D}"/>
              </a:ext>
            </a:extLst>
          </p:cNvPr>
          <p:cNvSpPr>
            <a:spLocks noGrp="1"/>
          </p:cNvSpPr>
          <p:nvPr>
            <p:ph type="title"/>
          </p:nvPr>
        </p:nvSpPr>
        <p:spPr>
          <a:xfrm>
            <a:off x="838200" y="595423"/>
            <a:ext cx="10515600" cy="1095265"/>
          </a:xfrm>
        </p:spPr>
        <p:txBody>
          <a:bodyPr/>
          <a:lstStyle/>
          <a:p>
            <a:pPr algn="ctr"/>
            <a:r>
              <a:rPr lang="en-GB" dirty="0"/>
              <a:t>How do we measure it?</a:t>
            </a:r>
          </a:p>
        </p:txBody>
      </p:sp>
      <p:sp>
        <p:nvSpPr>
          <p:cNvPr id="3" name="Content Placeholder 2">
            <a:extLst>
              <a:ext uri="{FF2B5EF4-FFF2-40B4-BE49-F238E27FC236}">
                <a16:creationId xmlns:a16="http://schemas.microsoft.com/office/drawing/2014/main" id="{E420530E-37F4-4DD5-B355-EB0B002995CE}"/>
              </a:ext>
            </a:extLst>
          </p:cNvPr>
          <p:cNvSpPr>
            <a:spLocks noGrp="1"/>
          </p:cNvSpPr>
          <p:nvPr>
            <p:ph idx="1"/>
          </p:nvPr>
        </p:nvSpPr>
        <p:spPr/>
        <p:txBody>
          <a:bodyPr/>
          <a:lstStyle/>
          <a:p>
            <a:r>
              <a:rPr lang="en-GB" dirty="0"/>
              <a:t>The Shapiro delay is a term that cannot be directly observed, but is inferred from movement of stars within the globular cluster. Since the stars move around the globular cluster, this results in the change in Shapiro delay over time – the Shapiro noise – which is an observable quantity. </a:t>
            </a:r>
          </a:p>
          <a:p>
            <a:r>
              <a:rPr lang="en-GB" dirty="0"/>
              <a:t>The post-Keplerian parameters </a:t>
            </a:r>
            <a:r>
              <a:rPr lang="en-GB" i="1" dirty="0"/>
              <a:t>r</a:t>
            </a:r>
            <a:r>
              <a:rPr lang="en-GB" dirty="0"/>
              <a:t> (Shapiro range) and </a:t>
            </a:r>
            <a:r>
              <a:rPr lang="en-GB" i="1" dirty="0"/>
              <a:t>s</a:t>
            </a:r>
            <a:r>
              <a:rPr lang="en-GB" dirty="0"/>
              <a:t> (Shapiro shape) are directly measurable and via these the Shapiro delay can be found </a:t>
            </a:r>
          </a:p>
        </p:txBody>
      </p:sp>
    </p:spTree>
    <p:extLst>
      <p:ext uri="{BB962C8B-B14F-4D97-AF65-F5344CB8AC3E}">
        <p14:creationId xmlns:p14="http://schemas.microsoft.com/office/powerpoint/2010/main" val="583606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wirling meteorite">
            <a:extLst>
              <a:ext uri="{FF2B5EF4-FFF2-40B4-BE49-F238E27FC236}">
                <a16:creationId xmlns:a16="http://schemas.microsoft.com/office/drawing/2014/main" id="{A0AC3572-3690-4E25-A2A3-BB18A04E558A}"/>
              </a:ext>
            </a:extLst>
          </p:cNvPr>
          <p:cNvPicPr>
            <a:picLocks noChangeAspect="1"/>
          </p:cNvPicPr>
          <p:nvPr/>
        </p:nvPicPr>
        <p:blipFill rotWithShape="1">
          <a:blip r:embed="rId3">
            <a:alphaModFix/>
          </a:blip>
          <a:srcRect t="157" b="12971"/>
          <a:stretch/>
        </p:blipFill>
        <p:spPr>
          <a:xfrm>
            <a:off x="-1802207" y="-1685261"/>
            <a:ext cx="18184010" cy="10228521"/>
          </a:xfrm>
          <a:prstGeom prst="rect">
            <a:avLst/>
          </a:prstGeom>
        </p:spPr>
      </p:pic>
      <p:sp>
        <p:nvSpPr>
          <p:cNvPr id="4" name="Rectangle 3">
            <a:extLst>
              <a:ext uri="{FF2B5EF4-FFF2-40B4-BE49-F238E27FC236}">
                <a16:creationId xmlns:a16="http://schemas.microsoft.com/office/drawing/2014/main" id="{77EB1B6E-8190-49A1-81B0-7F0A98B098CF}"/>
              </a:ext>
            </a:extLst>
          </p:cNvPr>
          <p:cNvSpPr/>
          <p:nvPr/>
        </p:nvSpPr>
        <p:spPr>
          <a:xfrm>
            <a:off x="710609" y="595423"/>
            <a:ext cx="10770782" cy="566715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B4189EE4-C5C9-437F-BDA7-73279A2AF673}"/>
              </a:ext>
            </a:extLst>
          </p:cNvPr>
          <p:cNvSpPr>
            <a:spLocks noGrp="1"/>
          </p:cNvSpPr>
          <p:nvPr>
            <p:ph type="title"/>
          </p:nvPr>
        </p:nvSpPr>
        <p:spPr>
          <a:xfrm>
            <a:off x="838200" y="595423"/>
            <a:ext cx="10515600" cy="1095265"/>
          </a:xfrm>
        </p:spPr>
        <p:txBody>
          <a:bodyPr/>
          <a:lstStyle/>
          <a:p>
            <a:pPr algn="ctr"/>
            <a:r>
              <a:rPr lang="en-GB" dirty="0"/>
              <a:t>Shapiro Delay Equation 020202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3A6E17-8F8F-4C87-9FDC-F78B204C9371}"/>
                  </a:ext>
                </a:extLst>
              </p:cNvPr>
              <p:cNvSpPr>
                <a:spLocks noGrp="1"/>
              </p:cNvSpPr>
              <p:nvPr>
                <p:ph idx="1"/>
              </p:nvPr>
            </p:nvSpPr>
            <p:spPr/>
            <p:txBody>
              <a:bodyPr>
                <a:normAutofit lnSpcReduction="10000"/>
              </a:bodyPr>
              <a:lstStyle/>
              <a:p>
                <a14:m>
                  <m:oMath xmlns:m="http://schemas.openxmlformats.org/officeDocument/2006/math">
                    <m:sSubSup>
                      <m:sSubSupPr>
                        <m:ctrlPr>
                          <a:rPr lang="en-GB" i="1" smtClean="0">
                            <a:latin typeface="Cambria Math" panose="02040503050406030204" pitchFamily="18" charset="0"/>
                            <a:ea typeface="Cambria Math" panose="02040503050406030204" pitchFamily="18" charset="0"/>
                          </a:rPr>
                        </m:ctrlPr>
                      </m:sSubSupPr>
                      <m:e>
                        <m:r>
                          <a:rPr lang="en-GB" i="1" smtClean="0">
                            <a:latin typeface="Cambria Math" panose="02040503050406030204" pitchFamily="18" charset="0"/>
                            <a:ea typeface="Cambria Math" panose="02040503050406030204" pitchFamily="18" charset="0"/>
                          </a:rPr>
                          <m:t>∆</m:t>
                        </m:r>
                      </m:e>
                      <m:sub>
                        <m:r>
                          <a:rPr lang="en-GB" b="0" i="1" smtClean="0">
                            <a:latin typeface="Cambria Math" panose="02040503050406030204" pitchFamily="18" charset="0"/>
                            <a:ea typeface="Cambria Math" panose="02040503050406030204" pitchFamily="18" charset="0"/>
                          </a:rPr>
                          <m:t>𝑆</m:t>
                        </m:r>
                      </m:sub>
                      <m:sup>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𝐿𝑂</m:t>
                        </m:r>
                        <m:r>
                          <a:rPr lang="en-GB" b="0" i="1" smtClean="0">
                            <a:latin typeface="Cambria Math" panose="02040503050406030204" pitchFamily="18" charset="0"/>
                            <a:ea typeface="Cambria Math" panose="02040503050406030204" pitchFamily="18" charset="0"/>
                          </a:rPr>
                          <m:t>)</m:t>
                        </m:r>
                      </m:sup>
                    </m:sSubSup>
                    <m:r>
                      <a:rPr lang="en-GB" b="0" i="1" smtClean="0">
                        <a:latin typeface="Cambria Math" panose="02040503050406030204" pitchFamily="18" charset="0"/>
                        <a:ea typeface="Cambria Math" panose="02040503050406030204" pitchFamily="18" charset="0"/>
                      </a:rPr>
                      <m:t>=−2</m:t>
                    </m:r>
                    <m:r>
                      <a:rPr lang="en-GB" b="0" i="1" smtClean="0">
                        <a:latin typeface="Cambria Math" panose="02040503050406030204" pitchFamily="18" charset="0"/>
                        <a:ea typeface="Cambria Math" panose="02040503050406030204" pitchFamily="18" charset="0"/>
                      </a:rPr>
                      <m:t>𝑟</m:t>
                    </m:r>
                    <m:func>
                      <m:funcPr>
                        <m:ctrlPr>
                          <a:rPr lang="en-GB" b="0" i="1" smtClean="0">
                            <a:latin typeface="Cambria Math" panose="02040503050406030204" pitchFamily="18" charset="0"/>
                            <a:ea typeface="Cambria Math" panose="02040503050406030204" pitchFamily="18" charset="0"/>
                          </a:rPr>
                        </m:ctrlPr>
                      </m:funcPr>
                      <m:fName>
                        <m:r>
                          <m:rPr>
                            <m:sty m:val="p"/>
                          </m:rPr>
                          <a:rPr lang="en-GB" b="0" i="0" smtClean="0">
                            <a:latin typeface="Cambria Math" panose="02040503050406030204" pitchFamily="18" charset="0"/>
                            <a:ea typeface="Cambria Math" panose="02040503050406030204" pitchFamily="18" charset="0"/>
                          </a:rPr>
                          <m:t>ln</m:t>
                        </m:r>
                      </m:fName>
                      <m:e>
                        <m:sSub>
                          <m:sSubPr>
                            <m:ctrlPr>
                              <a:rPr lang="el-GR" b="0" i="1" smtClean="0">
                                <a:latin typeface="Cambria Math" panose="02040503050406030204" pitchFamily="18" charset="0"/>
                                <a:ea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Λ</m:t>
                            </m:r>
                          </m:e>
                          <m:sub>
                            <m:r>
                              <a:rPr lang="en-GB" b="0" i="1" smtClean="0">
                                <a:latin typeface="Cambria Math" panose="02040503050406030204" pitchFamily="18" charset="0"/>
                                <a:ea typeface="Cambria Math" panose="02040503050406030204" pitchFamily="18" charset="0"/>
                              </a:rPr>
                              <m:t>𝑢</m:t>
                            </m:r>
                          </m:sub>
                        </m:sSub>
                      </m:e>
                    </m:func>
                  </m:oMath>
                </a14:m>
                <a:endParaRPr lang="en-GB" dirty="0"/>
              </a:p>
              <a:p>
                <a14:m>
                  <m:oMath xmlns:m="http://schemas.openxmlformats.org/officeDocument/2006/math">
                    <m:sSub>
                      <m:sSubPr>
                        <m:ctrlPr>
                          <a:rPr lang="en-GB" i="1" smtClean="0">
                            <a:latin typeface="Cambria Math" panose="02040503050406030204" pitchFamily="18" charset="0"/>
                          </a:rPr>
                        </m:ctrlPr>
                      </m:sSubPr>
                      <m:e>
                        <m:r>
                          <m:rPr>
                            <m:sty m:val="p"/>
                          </m:rPr>
                          <a:rPr lang="el-GR" i="1" smtClean="0">
                            <a:latin typeface="Cambria Math" panose="02040503050406030204" pitchFamily="18" charset="0"/>
                            <a:ea typeface="Cambria Math" panose="02040503050406030204" pitchFamily="18" charset="0"/>
                          </a:rPr>
                          <m:t>Λ</m:t>
                        </m:r>
                      </m:e>
                      <m:sub>
                        <m:r>
                          <a:rPr lang="en-GB" b="0" i="1" smtClean="0">
                            <a:latin typeface="Cambria Math" panose="02040503050406030204" pitchFamily="18" charset="0"/>
                          </a:rPr>
                          <m:t>𝑢</m:t>
                        </m:r>
                      </m:sub>
                    </m:sSub>
                    <m:r>
                      <a:rPr lang="en-GB" b="0" i="1" smtClean="0">
                        <a:latin typeface="Cambria Math" panose="02040503050406030204" pitchFamily="18" charset="0"/>
                      </a:rPr>
                      <m:t>=1 −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𝑒</m:t>
                        </m:r>
                      </m:e>
                      <m:sub>
                        <m:r>
                          <a:rPr lang="en-GB" b="0" i="1" smtClean="0">
                            <a:latin typeface="Cambria Math" panose="02040503050406030204" pitchFamily="18" charset="0"/>
                          </a:rPr>
                          <m:t>𝑇</m:t>
                        </m:r>
                      </m:sub>
                    </m:sSub>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cos</m:t>
                        </m:r>
                      </m:fName>
                      <m:e>
                        <m:r>
                          <a:rPr lang="en-GB" b="0" i="1" smtClean="0">
                            <a:latin typeface="Cambria Math" panose="02040503050406030204" pitchFamily="18" charset="0"/>
                          </a:rPr>
                          <m:t>𝑢</m:t>
                        </m:r>
                      </m:e>
                    </m:func>
                    <m:r>
                      <a:rPr lang="en-GB" b="0" i="1" smtClean="0">
                        <a:latin typeface="Cambria Math" panose="02040503050406030204" pitchFamily="18" charset="0"/>
                      </a:rPr>
                      <m:t> −</m:t>
                    </m:r>
                    <m:r>
                      <a:rPr lang="en-GB" b="0" i="1" smtClean="0">
                        <a:latin typeface="Cambria Math" panose="02040503050406030204" pitchFamily="18" charset="0"/>
                      </a:rPr>
                      <m:t>𝑠</m:t>
                    </m:r>
                    <m:r>
                      <a:rPr lang="en-GB" b="0" i="1" smtClean="0">
                        <a:latin typeface="Cambria Math" panose="02040503050406030204" pitchFamily="18" charset="0"/>
                      </a:rPr>
                      <m:t>[</m:t>
                    </m:r>
                    <m:r>
                      <a:rPr lang="en-GB" b="0" i="1" smtClean="0">
                        <a:latin typeface="Cambria Math" panose="02040503050406030204" pitchFamily="18" charset="0"/>
                      </a:rPr>
                      <m:t>𝑠𝑖𝑛</m:t>
                    </m:r>
                    <m:r>
                      <a:rPr lang="en-GB" b="0" i="1" smtClean="0">
                        <a:latin typeface="Cambria Math" panose="02040503050406030204" pitchFamily="18" charset="0"/>
                        <a:ea typeface="Cambria Math" panose="02040503050406030204" pitchFamily="18" charset="0"/>
                      </a:rPr>
                      <m:t>𝜔</m:t>
                    </m:r>
                    <m:d>
                      <m:dPr>
                        <m:ctrlPr>
                          <a:rPr lang="en-GB" b="0" i="1" smtClean="0">
                            <a:latin typeface="Cambria Math" panose="02040503050406030204" pitchFamily="18" charset="0"/>
                            <a:ea typeface="Cambria Math" panose="02040503050406030204" pitchFamily="18" charset="0"/>
                          </a:rPr>
                        </m:ctrlPr>
                      </m:dPr>
                      <m:e>
                        <m:func>
                          <m:funcPr>
                            <m:ctrlPr>
                              <a:rPr lang="en-GB" b="0" i="1" smtClean="0">
                                <a:latin typeface="Cambria Math" panose="02040503050406030204" pitchFamily="18" charset="0"/>
                                <a:ea typeface="Cambria Math" panose="02040503050406030204" pitchFamily="18" charset="0"/>
                              </a:rPr>
                            </m:ctrlPr>
                          </m:funcPr>
                          <m:fName>
                            <m:r>
                              <m:rPr>
                                <m:sty m:val="p"/>
                              </m:rPr>
                              <a:rPr lang="en-GB" b="0" i="0" smtClean="0">
                                <a:latin typeface="Cambria Math" panose="02040503050406030204" pitchFamily="18" charset="0"/>
                                <a:ea typeface="Cambria Math" panose="02040503050406030204" pitchFamily="18" charset="0"/>
                              </a:rPr>
                              <m:t>cos</m:t>
                            </m:r>
                          </m:fName>
                          <m:e>
                            <m:r>
                              <a:rPr lang="en-GB" b="0" i="1" smtClean="0">
                                <a:latin typeface="Cambria Math" panose="02040503050406030204" pitchFamily="18" charset="0"/>
                                <a:ea typeface="Cambria Math" panose="02040503050406030204" pitchFamily="18" charset="0"/>
                              </a:rPr>
                              <m:t>𝑢</m:t>
                            </m:r>
                          </m:e>
                        </m:func>
                        <m:r>
                          <a:rPr lang="en-GB" b="0" i="1" smtClean="0">
                            <a:latin typeface="Cambria Math" panose="02040503050406030204" pitchFamily="18" charset="0"/>
                            <a:ea typeface="Cambria Math" panose="02040503050406030204" pitchFamily="18" charset="0"/>
                          </a:rPr>
                          <m:t>− </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𝑒</m:t>
                            </m:r>
                          </m:e>
                          <m:sub>
                            <m:r>
                              <a:rPr lang="en-GB" b="0" i="1" smtClean="0">
                                <a:latin typeface="Cambria Math" panose="02040503050406030204" pitchFamily="18" charset="0"/>
                                <a:ea typeface="Cambria Math" panose="02040503050406030204" pitchFamily="18" charset="0"/>
                              </a:rPr>
                              <m:t>𝑇</m:t>
                            </m:r>
                          </m:sub>
                        </m:sSub>
                      </m:e>
                    </m:d>
                    <m:r>
                      <a:rPr lang="en-GB" b="0" i="1" smtClean="0">
                        <a:latin typeface="Cambria Math" panose="02040503050406030204" pitchFamily="18" charset="0"/>
                        <a:ea typeface="Cambria Math" panose="02040503050406030204" pitchFamily="18" charset="0"/>
                      </a:rPr>
                      <m:t>+(1 −</m:t>
                    </m:r>
                    <m:sSubSup>
                      <m:sSubSupPr>
                        <m:ctrlPr>
                          <a:rPr lang="en-GB" b="0" i="1" smtClean="0">
                            <a:latin typeface="Cambria Math" panose="02040503050406030204" pitchFamily="18" charset="0"/>
                            <a:ea typeface="Cambria Math" panose="02040503050406030204" pitchFamily="18" charset="0"/>
                          </a:rPr>
                        </m:ctrlPr>
                      </m:sSubSupPr>
                      <m:e>
                        <m:r>
                          <a:rPr lang="en-GB" b="0" i="1" smtClean="0">
                            <a:latin typeface="Cambria Math" panose="02040503050406030204" pitchFamily="18" charset="0"/>
                            <a:ea typeface="Cambria Math" panose="02040503050406030204" pitchFamily="18" charset="0"/>
                          </a:rPr>
                          <m:t>𝑒</m:t>
                        </m:r>
                      </m:e>
                      <m:sub>
                        <m:r>
                          <a:rPr lang="en-GB" b="0" i="1" smtClean="0">
                            <a:latin typeface="Cambria Math" panose="02040503050406030204" pitchFamily="18" charset="0"/>
                            <a:ea typeface="Cambria Math" panose="02040503050406030204" pitchFamily="18" charset="0"/>
                          </a:rPr>
                          <m:t>𝑇</m:t>
                        </m:r>
                      </m:sub>
                      <m:sup>
                        <m:r>
                          <a:rPr lang="en-GB" b="0" i="1" smtClean="0">
                            <a:latin typeface="Cambria Math" panose="02040503050406030204" pitchFamily="18" charset="0"/>
                            <a:ea typeface="Cambria Math" panose="02040503050406030204" pitchFamily="18" charset="0"/>
                          </a:rPr>
                          <m:t>2</m:t>
                        </m:r>
                      </m:sup>
                    </m:sSubSup>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m:t>
                        </m:r>
                      </m:e>
                      <m:sup>
                        <m:f>
                          <m:fP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1</m:t>
                            </m:r>
                          </m:num>
                          <m:den>
                            <m:r>
                              <a:rPr lang="en-GB" b="0" i="1" smtClean="0">
                                <a:latin typeface="Cambria Math" panose="02040503050406030204" pitchFamily="18" charset="0"/>
                                <a:ea typeface="Cambria Math" panose="02040503050406030204" pitchFamily="18" charset="0"/>
                              </a:rPr>
                              <m:t>2</m:t>
                            </m:r>
                          </m:den>
                        </m:f>
                      </m:sup>
                    </m:sSup>
                    <m:func>
                      <m:funcPr>
                        <m:ctrlPr>
                          <a:rPr lang="en-GB" b="0" i="1" smtClean="0">
                            <a:latin typeface="Cambria Math" panose="02040503050406030204" pitchFamily="18" charset="0"/>
                            <a:ea typeface="Cambria Math" panose="02040503050406030204" pitchFamily="18" charset="0"/>
                          </a:rPr>
                        </m:ctrlPr>
                      </m:funcPr>
                      <m:fName>
                        <m:r>
                          <m:rPr>
                            <m:sty m:val="p"/>
                          </m:rPr>
                          <a:rPr lang="en-GB" b="0" i="0" smtClean="0">
                            <a:latin typeface="Cambria Math" panose="02040503050406030204" pitchFamily="18" charset="0"/>
                            <a:ea typeface="Cambria Math" panose="02040503050406030204" pitchFamily="18" charset="0"/>
                          </a:rPr>
                          <m:t>cos</m:t>
                        </m:r>
                      </m:fName>
                      <m:e>
                        <m:r>
                          <a:rPr lang="en-GB" b="0" i="1" smtClean="0">
                            <a:latin typeface="Cambria Math" panose="02040503050406030204" pitchFamily="18" charset="0"/>
                            <a:ea typeface="Cambria Math" panose="02040503050406030204" pitchFamily="18" charset="0"/>
                          </a:rPr>
                          <m:t>𝜔</m:t>
                        </m:r>
                      </m:e>
                    </m:func>
                    <m:func>
                      <m:funcPr>
                        <m:ctrlPr>
                          <a:rPr lang="en-GB" b="0" i="1" smtClean="0">
                            <a:latin typeface="Cambria Math" panose="02040503050406030204" pitchFamily="18" charset="0"/>
                            <a:ea typeface="Cambria Math" panose="02040503050406030204" pitchFamily="18" charset="0"/>
                          </a:rPr>
                        </m:ctrlPr>
                      </m:funcPr>
                      <m:fName>
                        <m:r>
                          <m:rPr>
                            <m:sty m:val="p"/>
                          </m:rPr>
                          <a:rPr lang="en-GB" b="0" i="0" smtClean="0">
                            <a:latin typeface="Cambria Math" panose="02040503050406030204" pitchFamily="18" charset="0"/>
                            <a:ea typeface="Cambria Math" panose="02040503050406030204" pitchFamily="18" charset="0"/>
                          </a:rPr>
                          <m:t>sin</m:t>
                        </m:r>
                      </m:fName>
                      <m:e>
                        <m:r>
                          <a:rPr lang="en-GB" b="0" i="1" smtClean="0">
                            <a:latin typeface="Cambria Math" panose="02040503050406030204" pitchFamily="18" charset="0"/>
                            <a:ea typeface="Cambria Math" panose="02040503050406030204" pitchFamily="18" charset="0"/>
                          </a:rPr>
                          <m:t>𝑢</m:t>
                        </m:r>
                      </m:e>
                    </m:func>
                    <m:r>
                      <a:rPr lang="en-GB" b="0" i="1" smtClean="0">
                        <a:latin typeface="Cambria Math" panose="02040503050406030204" pitchFamily="18" charset="0"/>
                        <a:ea typeface="Cambria Math" panose="02040503050406030204" pitchFamily="18" charset="0"/>
                      </a:rPr>
                      <m:t>]</m:t>
                    </m:r>
                  </m:oMath>
                </a14:m>
                <a:endParaRPr lang="en-GB" dirty="0"/>
              </a:p>
              <a:p>
                <a:endParaRPr lang="en-GB" dirty="0"/>
              </a:p>
              <a:p>
                <a:r>
                  <a:rPr lang="en-GB" dirty="0"/>
                  <a:t>PK parameters:</a:t>
                </a:r>
              </a:p>
              <a:p>
                <a:pPr lvl="1"/>
                <a14:m>
                  <m:oMath xmlns:m="http://schemas.openxmlformats.org/officeDocument/2006/math">
                    <m:r>
                      <a:rPr lang="en-GB" b="0" i="1" smtClean="0">
                        <a:latin typeface="Cambria Math" panose="02040503050406030204" pitchFamily="18" charset="0"/>
                      </a:rPr>
                      <m:t>𝑟</m:t>
                    </m:r>
                  </m:oMath>
                </a14:m>
                <a:r>
                  <a:rPr lang="en-GB" dirty="0"/>
                  <a:t> – range of the Shapiro delay</a:t>
                </a:r>
              </a:p>
              <a:p>
                <a:pPr lvl="1"/>
                <a14:m>
                  <m:oMath xmlns:m="http://schemas.openxmlformats.org/officeDocument/2006/math">
                    <m:r>
                      <a:rPr lang="en-GB" i="1" dirty="0" smtClean="0">
                        <a:latin typeface="Cambria Math" panose="02040503050406030204" pitchFamily="18" charset="0"/>
                      </a:rPr>
                      <m:t>𝑠</m:t>
                    </m:r>
                  </m:oMath>
                </a14:m>
                <a:r>
                  <a:rPr lang="en-GB" dirty="0"/>
                  <a:t> – shape of the Shapiro delay</a:t>
                </a:r>
              </a:p>
              <a:p>
                <a:pPr lvl="1"/>
                <a:endParaRPr lang="en-GB" dirty="0"/>
              </a:p>
              <a:p>
                <a:pPr lvl="1"/>
                <a14:m>
                  <m:oMath xmlns:m="http://schemas.openxmlformats.org/officeDocument/2006/math">
                    <m:r>
                      <a:rPr lang="en-GB" b="0" i="1" smtClean="0">
                        <a:latin typeface="Cambria Math" panose="02040503050406030204" pitchFamily="18" charset="0"/>
                      </a:rPr>
                      <m:t>𝑠</m:t>
                    </m:r>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sin</m:t>
                        </m:r>
                      </m:fName>
                      <m:e>
                        <m:r>
                          <a:rPr lang="en-GB" b="0" i="1" smtClean="0">
                            <a:latin typeface="Cambria Math" panose="02040503050406030204" pitchFamily="18" charset="0"/>
                          </a:rPr>
                          <m:t>𝑖</m:t>
                        </m:r>
                      </m:e>
                    </m:func>
                    <m:r>
                      <a:rPr lang="en-GB" b="0" i="1" smtClean="0">
                        <a:latin typeface="Cambria Math" panose="02040503050406030204" pitchFamily="18" charset="0"/>
                      </a:rPr>
                      <m:t> </m:t>
                    </m:r>
                  </m:oMath>
                </a14:m>
                <a:r>
                  <a:rPr lang="en-GB" dirty="0"/>
                  <a:t> (Shapiro shape = the sine of the orbital inclination)</a:t>
                </a:r>
              </a:p>
              <a:p>
                <a:pPr lvl="1"/>
                <a:r>
                  <a:rPr lang="en-GB" dirty="0"/>
                  <a:t>Range of the Shapiro delay is linked to the mass of the companion</a:t>
                </a:r>
              </a:p>
              <a:p>
                <a:pPr lvl="1"/>
                <a14:m>
                  <m:oMath xmlns:m="http://schemas.openxmlformats.org/officeDocument/2006/math">
                    <m:r>
                      <a:rPr lang="en-GB" b="0" i="1" smtClean="0">
                        <a:latin typeface="Cambria Math" panose="02040503050406030204" pitchFamily="18" charset="0"/>
                      </a:rPr>
                      <m:t>𝑟</m:t>
                    </m:r>
                    <m:r>
                      <a:rPr lang="en-GB" b="0" i="1" smtClean="0">
                        <a:latin typeface="Cambria Math" panose="02040503050406030204" pitchFamily="18" charset="0"/>
                      </a:rPr>
                      <m:t>=</m:t>
                    </m:r>
                    <m:r>
                      <a:rPr lang="en-GB" b="0" i="1" smtClean="0">
                        <a:latin typeface="Cambria Math" panose="02040503050406030204" pitchFamily="18" charset="0"/>
                      </a:rPr>
                      <m:t>𝐺</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𝑚</m:t>
                        </m:r>
                      </m:e>
                      <m:sub>
                        <m:r>
                          <a:rPr lang="en-GB" b="0" i="1" smtClean="0">
                            <a:latin typeface="Cambria Math" panose="02040503050406030204" pitchFamily="18" charset="0"/>
                          </a:rPr>
                          <m:t>𝐵</m:t>
                        </m:r>
                      </m:sub>
                    </m:sSub>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𝑐</m:t>
                        </m:r>
                      </m:e>
                      <m:sup>
                        <m:r>
                          <a:rPr lang="en-GB" b="0" i="1" smtClean="0">
                            <a:latin typeface="Cambria Math" panose="02040503050406030204" pitchFamily="18" charset="0"/>
                          </a:rPr>
                          <m:t>3</m:t>
                        </m:r>
                      </m:sup>
                    </m:sSup>
                  </m:oMath>
                </a14:m>
                <a:endParaRPr lang="en-GB" dirty="0"/>
              </a:p>
            </p:txBody>
          </p:sp>
        </mc:Choice>
        <mc:Fallback xmlns="">
          <p:sp>
            <p:nvSpPr>
              <p:cNvPr id="3" name="Content Placeholder 2">
                <a:extLst>
                  <a:ext uri="{FF2B5EF4-FFF2-40B4-BE49-F238E27FC236}">
                    <a16:creationId xmlns:a16="http://schemas.microsoft.com/office/drawing/2014/main" id="{0E3A6E17-8F8F-4C87-9FDC-F78B204C9371}"/>
                  </a:ext>
                </a:extLst>
              </p:cNvPr>
              <p:cNvSpPr>
                <a:spLocks noGrp="1" noRot="1" noChangeAspect="1" noMove="1" noResize="1" noEditPoints="1" noAdjustHandles="1" noChangeArrowheads="1" noChangeShapeType="1" noTextEdit="1"/>
              </p:cNvSpPr>
              <p:nvPr>
                <p:ph idx="1"/>
              </p:nvPr>
            </p:nvSpPr>
            <p:spPr>
              <a:blipFill>
                <a:blip r:embed="rId4"/>
                <a:stretch>
                  <a:fillRect l="-1043" b="-2381"/>
                </a:stretch>
              </a:blipFill>
            </p:spPr>
            <p:txBody>
              <a:bodyPr/>
              <a:lstStyle/>
              <a:p>
                <a:r>
                  <a:rPr lang="en-GB">
                    <a:noFill/>
                  </a:rPr>
                  <a:t> </a:t>
                </a:r>
              </a:p>
            </p:txBody>
          </p:sp>
        </mc:Fallback>
      </mc:AlternateContent>
    </p:spTree>
    <p:extLst>
      <p:ext uri="{BB962C8B-B14F-4D97-AF65-F5344CB8AC3E}">
        <p14:creationId xmlns:p14="http://schemas.microsoft.com/office/powerpoint/2010/main" val="2852872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wirling meteorite">
            <a:extLst>
              <a:ext uri="{FF2B5EF4-FFF2-40B4-BE49-F238E27FC236}">
                <a16:creationId xmlns:a16="http://schemas.microsoft.com/office/drawing/2014/main" id="{E70DBCB2-40E5-47BD-8CD2-0559B977AD09}"/>
              </a:ext>
            </a:extLst>
          </p:cNvPr>
          <p:cNvPicPr>
            <a:picLocks noChangeAspect="1"/>
          </p:cNvPicPr>
          <p:nvPr/>
        </p:nvPicPr>
        <p:blipFill rotWithShape="1">
          <a:blip r:embed="rId3">
            <a:alphaModFix/>
          </a:blip>
          <a:srcRect t="157" b="12971"/>
          <a:stretch/>
        </p:blipFill>
        <p:spPr>
          <a:xfrm>
            <a:off x="-1582074" y="-1685261"/>
            <a:ext cx="18184010" cy="10228521"/>
          </a:xfrm>
          <a:prstGeom prst="rect">
            <a:avLst/>
          </a:prstGeom>
        </p:spPr>
      </p:pic>
      <p:sp>
        <p:nvSpPr>
          <p:cNvPr id="4" name="Rectangle 3">
            <a:extLst>
              <a:ext uri="{FF2B5EF4-FFF2-40B4-BE49-F238E27FC236}">
                <a16:creationId xmlns:a16="http://schemas.microsoft.com/office/drawing/2014/main" id="{0DCA3238-DFD5-4B42-8F71-C50763545B71}"/>
              </a:ext>
            </a:extLst>
          </p:cNvPr>
          <p:cNvSpPr/>
          <p:nvPr/>
        </p:nvSpPr>
        <p:spPr>
          <a:xfrm>
            <a:off x="710609" y="595423"/>
            <a:ext cx="10770782" cy="566715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1215D4E6-5D2B-476D-8634-92BD26E49538}"/>
              </a:ext>
            </a:extLst>
          </p:cNvPr>
          <p:cNvSpPr>
            <a:spLocks noGrp="1"/>
          </p:cNvSpPr>
          <p:nvPr>
            <p:ph type="title"/>
          </p:nvPr>
        </p:nvSpPr>
        <p:spPr>
          <a:xfrm>
            <a:off x="838200" y="595423"/>
            <a:ext cx="10515600" cy="1095265"/>
          </a:xfrm>
        </p:spPr>
        <p:txBody>
          <a:bodyPr/>
          <a:lstStyle/>
          <a:p>
            <a:pPr algn="ctr"/>
            <a:r>
              <a:rPr lang="en-GB" dirty="0"/>
              <a:t>Shapiro Delay Equation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393AB9-AAB7-420B-815F-5FEA72445D5B}"/>
                  </a:ext>
                </a:extLst>
              </p:cNvPr>
              <p:cNvSpPr>
                <a:spLocks noGrp="1"/>
              </p:cNvSpPr>
              <p:nvPr>
                <p:ph idx="1"/>
              </p:nvPr>
            </p:nvSpPr>
            <p:spPr/>
            <p:txBody>
              <a:bodyPr/>
              <a:lstStyle/>
              <a:p>
                <a14:m>
                  <m:oMath xmlns:m="http://schemas.openxmlformats.org/officeDocument/2006/math">
                    <m:sSub>
                      <m:sSubPr>
                        <m:ctrlPr>
                          <a:rPr lang="en-GB" i="1" smtClean="0">
                            <a:latin typeface="Cambria Math" panose="02040503050406030204" pitchFamily="18" charset="0"/>
                          </a:rPr>
                        </m:ctrlPr>
                      </m:sSubPr>
                      <m:e>
                        <m:r>
                          <m:rPr>
                            <m:sty m:val="p"/>
                          </m:rPr>
                          <a:rPr lang="el-GR" i="1" smtClean="0">
                            <a:latin typeface="Cambria Math" panose="02040503050406030204" pitchFamily="18" charset="0"/>
                            <a:ea typeface="Cambria Math" panose="02040503050406030204" pitchFamily="18" charset="0"/>
                          </a:rPr>
                          <m:t>Δ</m:t>
                        </m:r>
                      </m:e>
                      <m:sub>
                        <m:r>
                          <a:rPr lang="en-GB" b="0" i="1" smtClean="0">
                            <a:latin typeface="Cambria Math" panose="02040503050406030204" pitchFamily="18" charset="0"/>
                          </a:rPr>
                          <m:t>𝑆</m:t>
                        </m:r>
                        <m:r>
                          <a:rPr lang="en-GB" b="0" i="1" smtClean="0">
                            <a:latin typeface="Cambria Math" panose="02040503050406030204" pitchFamily="18" charset="0"/>
                            <a:ea typeface="Cambria Math" panose="02040503050406030204" pitchFamily="18" charset="0"/>
                          </a:rPr>
                          <m:t>⊙</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r>
                          <a:rPr lang="en-GB" b="0" i="1" smtClean="0">
                            <a:latin typeface="Cambria Math" panose="02040503050406030204" pitchFamily="18" charset="0"/>
                          </a:rPr>
                          <m:t>𝐺</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𝑀</m:t>
                            </m:r>
                          </m:e>
                          <m:sub>
                            <m:r>
                              <a:rPr lang="en-GB" b="0" i="1" smtClean="0">
                                <a:latin typeface="Cambria Math" panose="02040503050406030204" pitchFamily="18" charset="0"/>
                                <a:ea typeface="Cambria Math" panose="02040503050406030204" pitchFamily="18" charset="0"/>
                              </a:rPr>
                              <m:t>⊙</m:t>
                            </m:r>
                          </m:sub>
                        </m:sSub>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𝑐</m:t>
                            </m:r>
                          </m:e>
                          <m:sup>
                            <m:r>
                              <a:rPr lang="en-GB" b="0" i="1" smtClean="0">
                                <a:latin typeface="Cambria Math" panose="02040503050406030204" pitchFamily="18" charset="0"/>
                              </a:rPr>
                              <m:t>3</m:t>
                            </m:r>
                          </m:sup>
                        </m:sSup>
                      </m:den>
                    </m:f>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ln</m:t>
                        </m:r>
                      </m:fName>
                      <m:e>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𝑟</m:t>
                            </m:r>
                          </m:e>
                          <m:sub>
                            <m:r>
                              <a:rPr lang="en-GB" b="0" i="1" smtClean="0">
                                <a:latin typeface="Cambria Math" panose="02040503050406030204" pitchFamily="18" charset="0"/>
                                <a:ea typeface="Cambria Math" panose="02040503050406030204" pitchFamily="18" charset="0"/>
                              </a:rPr>
                              <m:t>⊙</m:t>
                            </m:r>
                          </m:sub>
                        </m:sSub>
                        <m:r>
                          <a:rPr lang="en-GB" b="0" i="1" smtClean="0">
                            <a:latin typeface="Cambria Math" panose="02040503050406030204" pitchFamily="18" charset="0"/>
                          </a:rPr>
                          <m:t>|</m:t>
                        </m:r>
                      </m:e>
                    </m:func>
                    <m:r>
                      <a:rPr lang="en-GB" b="0" i="1" smtClean="0">
                        <a:latin typeface="Cambria Math" panose="02040503050406030204" pitchFamily="18" charset="0"/>
                      </a:rPr>
                      <m:t>(1+</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cos</m:t>
                        </m:r>
                      </m:fName>
                      <m:e>
                        <m:r>
                          <a:rPr lang="en-GB" b="0" i="1" smtClean="0">
                            <a:latin typeface="Cambria Math" panose="02040503050406030204" pitchFamily="18" charset="0"/>
                            <a:ea typeface="Cambria Math" panose="02040503050406030204" pitchFamily="18" charset="0"/>
                          </a:rPr>
                          <m:t>𝜃</m:t>
                        </m:r>
                      </m:e>
                    </m:func>
                    <m:r>
                      <a:rPr lang="en-GB" b="0" i="1" smtClean="0">
                        <a:latin typeface="Cambria Math" panose="02040503050406030204" pitchFamily="18" charset="0"/>
                      </a:rPr>
                      <m:t>)]  </m:t>
                    </m:r>
                  </m:oMath>
                </a14:m>
                <a:r>
                  <a:rPr lang="en-GB" dirty="0"/>
                  <a:t> </a:t>
                </a:r>
              </a:p>
              <a:p>
                <a:endParaRPr lang="en-GB" dirty="0"/>
              </a:p>
              <a:p>
                <a:r>
                  <a:rPr lang="en-GB" dirty="0"/>
                  <a:t>Complete Shapiro delay equation:</a:t>
                </a:r>
              </a:p>
              <a:p>
                <a:pPr lvl="1"/>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𝑆h</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r>
                          <a:rPr lang="en-GB" b="0" i="1" smtClean="0">
                            <a:latin typeface="Cambria Math" panose="02040503050406030204" pitchFamily="18" charset="0"/>
                          </a:rPr>
                          <m:t>𝐺𝑀</m:t>
                        </m:r>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𝑐</m:t>
                            </m:r>
                          </m:e>
                          <m:sup>
                            <m:r>
                              <a:rPr lang="en-GB" b="0" i="1" smtClean="0">
                                <a:latin typeface="Cambria Math" panose="02040503050406030204" pitchFamily="18" charset="0"/>
                              </a:rPr>
                              <m:t>3</m:t>
                            </m:r>
                          </m:sup>
                        </m:sSup>
                      </m:den>
                    </m:f>
                    <m:d>
                      <m:dPr>
                        <m:ctrlPr>
                          <a:rPr lang="en-GB" b="0" i="1" smtClean="0">
                            <a:latin typeface="Cambria Math" panose="02040503050406030204" pitchFamily="18" charset="0"/>
                          </a:rPr>
                        </m:ctrlPr>
                      </m:dPr>
                      <m:e>
                        <m:d>
                          <m:dPr>
                            <m:begChr m:val="|"/>
                            <m:endChr m:val="|"/>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ad>
                                  <m:radPr>
                                    <m:degHide m:val="on"/>
                                    <m:ctrlPr>
                                      <a:rPr lang="en-GB" i="1">
                                        <a:latin typeface="Cambria Math" panose="02040503050406030204" pitchFamily="18" charset="0"/>
                                      </a:rPr>
                                    </m:ctrlPr>
                                  </m:radPr>
                                  <m:deg/>
                                  <m:e>
                                    <m:sSubSup>
                                      <m:sSubSupPr>
                                        <m:ctrlPr>
                                          <a:rPr lang="en-GB" i="1" smtClean="0">
                                            <a:latin typeface="Cambria Math" panose="02040503050406030204" pitchFamily="18" charset="0"/>
                                          </a:rPr>
                                        </m:ctrlPr>
                                      </m:sSubSupPr>
                                      <m:e>
                                        <m:r>
                                          <a:rPr lang="en-GB" b="0" i="1" smtClean="0">
                                            <a:latin typeface="Cambria Math" panose="02040503050406030204" pitchFamily="18" charset="0"/>
                                          </a:rPr>
                                          <m:t>𝐷</m:t>
                                        </m:r>
                                      </m:e>
                                      <m:sub>
                                        <m:r>
                                          <a:rPr lang="en-GB" b="0" i="1" smtClean="0">
                                            <a:latin typeface="Cambria Math" panose="02040503050406030204" pitchFamily="18" charset="0"/>
                                          </a:rPr>
                                          <m:t>𝐿</m:t>
                                        </m:r>
                                      </m:sub>
                                      <m:sup>
                                        <m:r>
                                          <a:rPr lang="en-GB" b="0" i="1" smtClean="0">
                                            <a:latin typeface="Cambria Math" panose="02040503050406030204" pitchFamily="18" charset="0"/>
                                          </a:rPr>
                                          <m:t>2</m:t>
                                        </m:r>
                                      </m:sup>
                                    </m:sSub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2</m:t>
                                        </m:r>
                                      </m:sup>
                                    </m:sSup>
                                  </m:e>
                                </m:rad>
                              </m:num>
                              <m:den>
                                <m:r>
                                  <a:rPr lang="en-GB" b="0" i="1" smtClean="0">
                                    <a:latin typeface="Cambria Math" panose="02040503050406030204" pitchFamily="18" charset="0"/>
                                  </a:rPr>
                                  <m:t>𝑎</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𝐷</m:t>
                                    </m:r>
                                  </m:e>
                                  <m:sub>
                                    <m:r>
                                      <a:rPr lang="en-GB" b="0" i="1" smtClean="0">
                                        <a:latin typeface="Cambria Math" panose="02040503050406030204" pitchFamily="18" charset="0"/>
                                      </a:rPr>
                                      <m:t>𝐿</m:t>
                                    </m:r>
                                  </m:sub>
                                </m:sSub>
                              </m:num>
                              <m:den>
                                <m:r>
                                  <a:rPr lang="en-GB" b="0" i="1" smtClean="0">
                                    <a:latin typeface="Cambria Math" panose="02040503050406030204" pitchFamily="18" charset="0"/>
                                  </a:rPr>
                                  <m:t>𝑎</m:t>
                                </m:r>
                              </m:den>
                            </m:f>
                          </m:e>
                        </m:d>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𝜅</m:t>
                        </m:r>
                        <m:func>
                          <m:funcPr>
                            <m:ctrlPr>
                              <a:rPr lang="en-GB" b="0" i="1" smtClean="0">
                                <a:latin typeface="Cambria Math" panose="02040503050406030204" pitchFamily="18" charset="0"/>
                                <a:ea typeface="Cambria Math" panose="02040503050406030204" pitchFamily="18" charset="0"/>
                              </a:rPr>
                            </m:ctrlPr>
                          </m:funcPr>
                          <m:fName>
                            <m:r>
                              <m:rPr>
                                <m:sty m:val="p"/>
                              </m:rPr>
                              <a:rPr lang="en-GB" b="0" i="0" smtClean="0">
                                <a:latin typeface="Cambria Math" panose="02040503050406030204" pitchFamily="18" charset="0"/>
                                <a:ea typeface="Cambria Math" panose="02040503050406030204" pitchFamily="18" charset="0"/>
                              </a:rPr>
                              <m:t>ln</m:t>
                            </m:r>
                          </m:fName>
                          <m:e>
                            <m:d>
                              <m:dPr>
                                <m:begChr m:val="|"/>
                                <m:endChr m:val="|"/>
                                <m:ctrlPr>
                                  <a:rPr lang="en-GB" b="0" i="1" smtClean="0">
                                    <a:latin typeface="Cambria Math" panose="02040503050406030204" pitchFamily="18" charset="0"/>
                                    <a:ea typeface="Cambria Math" panose="02040503050406030204" pitchFamily="18" charset="0"/>
                                  </a:rPr>
                                </m:ctrlPr>
                              </m:dPr>
                              <m:e>
                                <m:f>
                                  <m:fPr>
                                    <m:ctrlPr>
                                      <a:rPr lang="en-GB" b="0" i="1" smtClean="0">
                                        <a:latin typeface="Cambria Math" panose="02040503050406030204" pitchFamily="18" charset="0"/>
                                        <a:ea typeface="Cambria Math" panose="02040503050406030204" pitchFamily="18" charset="0"/>
                                      </a:rPr>
                                    </m:ctrlPr>
                                  </m:fPr>
                                  <m:num>
                                    <m:rad>
                                      <m:radPr>
                                        <m:degHide m:val="on"/>
                                        <m:ctrlPr>
                                          <a:rPr lang="en-GB" b="0" i="1" smtClean="0">
                                            <a:latin typeface="Cambria Math" panose="02040503050406030204" pitchFamily="18" charset="0"/>
                                            <a:ea typeface="Cambria Math" panose="02040503050406030204" pitchFamily="18" charset="0"/>
                                          </a:rPr>
                                        </m:ctrlPr>
                                      </m:radPr>
                                      <m:deg/>
                                      <m:e>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𝑎</m:t>
                                            </m:r>
                                          </m:e>
                                          <m:sup>
                                            <m:r>
                                              <a:rPr lang="en-GB" b="0" i="1" smtClean="0">
                                                <a:latin typeface="Cambria Math" panose="02040503050406030204" pitchFamily="18" charset="0"/>
                                                <a:ea typeface="Cambria Math" panose="02040503050406030204" pitchFamily="18" charset="0"/>
                                              </a:rPr>
                                              <m:t>2</m:t>
                                            </m:r>
                                          </m:sup>
                                        </m:sSup>
                                        <m:r>
                                          <a:rPr lang="en-GB" b="0" i="1" smtClean="0">
                                            <a:latin typeface="Cambria Math" panose="02040503050406030204" pitchFamily="18" charset="0"/>
                                            <a:ea typeface="Cambria Math" panose="02040503050406030204" pitchFamily="18" charset="0"/>
                                          </a:rPr>
                                          <m:t>+</m:t>
                                        </m:r>
                                        <m:sSubSup>
                                          <m:sSubSupPr>
                                            <m:ctrlPr>
                                              <a:rPr lang="en-GB" b="0" i="1" smtClean="0">
                                                <a:latin typeface="Cambria Math" panose="02040503050406030204" pitchFamily="18" charset="0"/>
                                                <a:ea typeface="Cambria Math" panose="02040503050406030204" pitchFamily="18" charset="0"/>
                                              </a:rPr>
                                            </m:ctrlPr>
                                          </m:sSubSupPr>
                                          <m:e>
                                            <m:r>
                                              <a:rPr lang="en-GB" b="0" i="1" smtClean="0">
                                                <a:latin typeface="Cambria Math" panose="02040503050406030204" pitchFamily="18" charset="0"/>
                                                <a:ea typeface="Cambria Math" panose="02040503050406030204" pitchFamily="18" charset="0"/>
                                              </a:rPr>
                                              <m:t>𝐷</m:t>
                                            </m:r>
                                          </m:e>
                                          <m:sub>
                                            <m:r>
                                              <a:rPr lang="en-GB" b="0" i="1" smtClean="0">
                                                <a:latin typeface="Cambria Math" panose="02040503050406030204" pitchFamily="18" charset="0"/>
                                                <a:ea typeface="Cambria Math" panose="02040503050406030204" pitchFamily="18" charset="0"/>
                                              </a:rPr>
                                              <m:t>𝐿𝑆</m:t>
                                            </m:r>
                                          </m:sub>
                                          <m:sup>
                                            <m:r>
                                              <a:rPr lang="en-GB" b="0" i="1" smtClean="0">
                                                <a:latin typeface="Cambria Math" panose="02040503050406030204" pitchFamily="18" charset="0"/>
                                                <a:ea typeface="Cambria Math" panose="02040503050406030204" pitchFamily="18" charset="0"/>
                                              </a:rPr>
                                              <m:t>2</m:t>
                                            </m:r>
                                          </m:sup>
                                        </m:sSubSup>
                                      </m:e>
                                    </m:rad>
                                  </m:num>
                                  <m:den>
                                    <m:r>
                                      <a:rPr lang="en-GB" b="0" i="1" smtClean="0">
                                        <a:latin typeface="Cambria Math" panose="02040503050406030204" pitchFamily="18" charset="0"/>
                                        <a:ea typeface="Cambria Math" panose="02040503050406030204" pitchFamily="18" charset="0"/>
                                      </a:rPr>
                                      <m:t>𝑎</m:t>
                                    </m:r>
                                  </m:den>
                                </m:f>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𝜅</m:t>
                                </m:r>
                                <m:f>
                                  <m:fPr>
                                    <m:ctrlPr>
                                      <a:rPr lang="en-GB" b="0" i="1" smtClean="0">
                                        <a:latin typeface="Cambria Math" panose="02040503050406030204" pitchFamily="18" charset="0"/>
                                        <a:ea typeface="Cambria Math" panose="02040503050406030204" pitchFamily="18" charset="0"/>
                                      </a:rPr>
                                    </m:ctrlPr>
                                  </m:fPr>
                                  <m:num>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𝐷</m:t>
                                        </m:r>
                                      </m:e>
                                      <m:sub>
                                        <m:r>
                                          <a:rPr lang="en-GB" b="0" i="1" smtClean="0">
                                            <a:latin typeface="Cambria Math" panose="02040503050406030204" pitchFamily="18" charset="0"/>
                                            <a:ea typeface="Cambria Math" panose="02040503050406030204" pitchFamily="18" charset="0"/>
                                          </a:rPr>
                                          <m:t>𝐿𝑆</m:t>
                                        </m:r>
                                      </m:sub>
                                    </m:sSub>
                                  </m:num>
                                  <m:den>
                                    <m:r>
                                      <a:rPr lang="en-GB" b="0" i="1" smtClean="0">
                                        <a:latin typeface="Cambria Math" panose="02040503050406030204" pitchFamily="18" charset="0"/>
                                        <a:ea typeface="Cambria Math" panose="02040503050406030204" pitchFamily="18" charset="0"/>
                                      </a:rPr>
                                      <m:t>𝑎</m:t>
                                    </m:r>
                                  </m:den>
                                </m:f>
                              </m:e>
                            </m:d>
                          </m:e>
                        </m:func>
                      </m:e>
                    </m:d>
                  </m:oMath>
                </a14:m>
                <a:endParaRPr lang="en-GB" dirty="0"/>
              </a:p>
              <a:p>
                <a:pPr lvl="1"/>
                <a:endParaRPr lang="en-GB" dirty="0"/>
              </a:p>
              <a:p>
                <a:pPr lvl="1"/>
                <a:r>
                  <a:rPr lang="en-GB" dirty="0"/>
                  <a:t>Where </a:t>
                </a:r>
                <a14:m>
                  <m:oMath xmlns:m="http://schemas.openxmlformats.org/officeDocument/2006/math">
                    <m:r>
                      <a:rPr lang="en-GB" i="1" smtClean="0">
                        <a:latin typeface="Cambria Math" panose="02040503050406030204" pitchFamily="18" charset="0"/>
                        <a:ea typeface="Cambria Math" panose="02040503050406030204" pitchFamily="18" charset="0"/>
                      </a:rPr>
                      <m:t>𝜅</m:t>
                    </m:r>
                    <m:r>
                      <a:rPr lang="en-GB" b="0" i="1" smtClean="0">
                        <a:latin typeface="Cambria Math" panose="02040503050406030204" pitchFamily="18" charset="0"/>
                        <a:ea typeface="Cambria Math" panose="02040503050406030204" pitchFamily="18" charset="0"/>
                      </a:rPr>
                      <m:t>=</m:t>
                    </m:r>
                    <m:f>
                      <m:fPr>
                        <m:ctrlPr>
                          <a:rPr lang="en-GB" b="0" i="1" smtClean="0">
                            <a:latin typeface="Cambria Math" panose="02040503050406030204" pitchFamily="18" charset="0"/>
                            <a:ea typeface="Cambria Math" panose="02040503050406030204" pitchFamily="18" charset="0"/>
                          </a:rPr>
                        </m:ctrlPr>
                      </m:fPr>
                      <m:num>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𝐷</m:t>
                            </m:r>
                          </m:e>
                          <m:sub>
                            <m:r>
                              <a:rPr lang="en-GB" b="0" i="1" smtClean="0">
                                <a:latin typeface="Cambria Math" panose="02040503050406030204" pitchFamily="18" charset="0"/>
                                <a:ea typeface="Cambria Math" panose="02040503050406030204" pitchFamily="18" charset="0"/>
                              </a:rPr>
                              <m:t>𝐿𝑆</m:t>
                            </m:r>
                          </m:sub>
                        </m:sSub>
                      </m:num>
                      <m:den>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𝐷</m:t>
                            </m:r>
                          </m:e>
                          <m:sub>
                            <m:r>
                              <a:rPr lang="en-GB" b="0" i="1" smtClean="0">
                                <a:latin typeface="Cambria Math" panose="02040503050406030204" pitchFamily="18" charset="0"/>
                                <a:ea typeface="Cambria Math" panose="02040503050406030204" pitchFamily="18" charset="0"/>
                              </a:rPr>
                              <m:t>𝐿𝑆</m:t>
                            </m:r>
                          </m:sub>
                        </m:sSub>
                        <m:r>
                          <a:rPr lang="en-GB" b="0" i="1" smtClean="0">
                            <a:latin typeface="Cambria Math" panose="02040503050406030204" pitchFamily="18" charset="0"/>
                            <a:ea typeface="Cambria Math" panose="02040503050406030204" pitchFamily="18" charset="0"/>
                          </a:rPr>
                          <m:t>|</m:t>
                        </m:r>
                      </m:den>
                    </m:f>
                  </m:oMath>
                </a14:m>
                <a:endParaRPr lang="en-GB" dirty="0"/>
              </a:p>
            </p:txBody>
          </p:sp>
        </mc:Choice>
        <mc:Fallback xmlns="">
          <p:sp>
            <p:nvSpPr>
              <p:cNvPr id="3" name="Content Placeholder 2">
                <a:extLst>
                  <a:ext uri="{FF2B5EF4-FFF2-40B4-BE49-F238E27FC236}">
                    <a16:creationId xmlns:a16="http://schemas.microsoft.com/office/drawing/2014/main" id="{A9393AB9-AAB7-420B-815F-5FEA72445D5B}"/>
                  </a:ext>
                </a:extLst>
              </p:cNvPr>
              <p:cNvSpPr>
                <a:spLocks noGrp="1" noRot="1" noChangeAspect="1" noMove="1" noResize="1" noEditPoints="1" noAdjustHandles="1" noChangeArrowheads="1" noChangeShapeType="1" noTextEdit="1"/>
              </p:cNvSpPr>
              <p:nvPr>
                <p:ph idx="1"/>
              </p:nvPr>
            </p:nvSpPr>
            <p:spPr>
              <a:blipFill>
                <a:blip r:embed="rId4"/>
                <a:stretch>
                  <a:fillRect l="-1043"/>
                </a:stretch>
              </a:blipFill>
            </p:spPr>
            <p:txBody>
              <a:bodyPr/>
              <a:lstStyle/>
              <a:p>
                <a:r>
                  <a:rPr lang="en-GB">
                    <a:noFill/>
                  </a:rPr>
                  <a:t> </a:t>
                </a:r>
              </a:p>
            </p:txBody>
          </p:sp>
        </mc:Fallback>
      </mc:AlternateContent>
    </p:spTree>
    <p:extLst>
      <p:ext uri="{BB962C8B-B14F-4D97-AF65-F5344CB8AC3E}">
        <p14:creationId xmlns:p14="http://schemas.microsoft.com/office/powerpoint/2010/main" val="239744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wirling meteorite">
            <a:extLst>
              <a:ext uri="{FF2B5EF4-FFF2-40B4-BE49-F238E27FC236}">
                <a16:creationId xmlns:a16="http://schemas.microsoft.com/office/drawing/2014/main" id="{BA32C530-6925-44C7-A9B3-1069A528508D}"/>
              </a:ext>
            </a:extLst>
          </p:cNvPr>
          <p:cNvPicPr>
            <a:picLocks noChangeAspect="1"/>
          </p:cNvPicPr>
          <p:nvPr/>
        </p:nvPicPr>
        <p:blipFill rotWithShape="1">
          <a:blip r:embed="rId2">
            <a:alphaModFix/>
          </a:blip>
          <a:srcRect t="157" b="12971"/>
          <a:stretch/>
        </p:blipFill>
        <p:spPr>
          <a:xfrm>
            <a:off x="-1446607" y="-1685261"/>
            <a:ext cx="18184010" cy="10228521"/>
          </a:xfrm>
          <a:prstGeom prst="rect">
            <a:avLst/>
          </a:prstGeom>
        </p:spPr>
      </p:pic>
      <p:sp>
        <p:nvSpPr>
          <p:cNvPr id="7" name="Rectangle 6">
            <a:extLst>
              <a:ext uri="{FF2B5EF4-FFF2-40B4-BE49-F238E27FC236}">
                <a16:creationId xmlns:a16="http://schemas.microsoft.com/office/drawing/2014/main" id="{A52EAFB5-F222-4BA6-8480-B2F1DE86E501}"/>
              </a:ext>
            </a:extLst>
          </p:cNvPr>
          <p:cNvSpPr/>
          <p:nvPr/>
        </p:nvSpPr>
        <p:spPr>
          <a:xfrm>
            <a:off x="710609" y="595423"/>
            <a:ext cx="10770782" cy="566715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393AB9-AAB7-420B-815F-5FEA72445D5B}"/>
                  </a:ext>
                </a:extLst>
              </p:cNvPr>
              <p:cNvSpPr>
                <a:spLocks noGrp="1"/>
              </p:cNvSpPr>
              <p:nvPr>
                <p:ph idx="1"/>
              </p:nvPr>
            </p:nvSpPr>
            <p:spPr>
              <a:xfrm>
                <a:off x="838200" y="3935186"/>
                <a:ext cx="10515600" cy="2318658"/>
              </a:xfrm>
            </p:spPr>
            <p:txBody>
              <a:bodyPr>
                <a:normAutofit/>
              </a:bodyPr>
              <a:lstStyle/>
              <a:p>
                <a:r>
                  <a:rPr lang="en-GB" dirty="0"/>
                  <a:t>Complete Shapiro delay equation:</a:t>
                </a:r>
              </a:p>
              <a:p>
                <a:pPr lvl="1"/>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𝑆h</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r>
                          <a:rPr lang="en-GB" b="0" i="1" smtClean="0">
                            <a:latin typeface="Cambria Math" panose="02040503050406030204" pitchFamily="18" charset="0"/>
                          </a:rPr>
                          <m:t>𝐺𝑀</m:t>
                        </m:r>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𝑐</m:t>
                            </m:r>
                          </m:e>
                          <m:sup>
                            <m:r>
                              <a:rPr lang="en-GB" b="0" i="1" smtClean="0">
                                <a:latin typeface="Cambria Math" panose="02040503050406030204" pitchFamily="18" charset="0"/>
                              </a:rPr>
                              <m:t>3</m:t>
                            </m:r>
                          </m:sup>
                        </m:sSup>
                      </m:den>
                    </m:f>
                    <m:d>
                      <m:dPr>
                        <m:ctrlPr>
                          <a:rPr lang="en-GB" b="0" i="1" smtClean="0">
                            <a:latin typeface="Cambria Math" panose="02040503050406030204" pitchFamily="18" charset="0"/>
                          </a:rPr>
                        </m:ctrlPr>
                      </m:dPr>
                      <m:e>
                        <m:d>
                          <m:dPr>
                            <m:begChr m:val="|"/>
                            <m:endChr m:val="|"/>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ad>
                                  <m:radPr>
                                    <m:degHide m:val="on"/>
                                    <m:ctrlPr>
                                      <a:rPr lang="en-GB" i="1">
                                        <a:latin typeface="Cambria Math" panose="02040503050406030204" pitchFamily="18" charset="0"/>
                                      </a:rPr>
                                    </m:ctrlPr>
                                  </m:radPr>
                                  <m:deg/>
                                  <m:e>
                                    <m:sSubSup>
                                      <m:sSubSupPr>
                                        <m:ctrlPr>
                                          <a:rPr lang="en-GB" i="1" smtClean="0">
                                            <a:latin typeface="Cambria Math" panose="02040503050406030204" pitchFamily="18" charset="0"/>
                                          </a:rPr>
                                        </m:ctrlPr>
                                      </m:sSubSupPr>
                                      <m:e>
                                        <m:r>
                                          <a:rPr lang="en-GB" b="0" i="1" smtClean="0">
                                            <a:latin typeface="Cambria Math" panose="02040503050406030204" pitchFamily="18" charset="0"/>
                                          </a:rPr>
                                          <m:t>𝐷</m:t>
                                        </m:r>
                                      </m:e>
                                      <m:sub>
                                        <m:r>
                                          <a:rPr lang="en-GB" b="0" i="1" smtClean="0">
                                            <a:latin typeface="Cambria Math" panose="02040503050406030204" pitchFamily="18" charset="0"/>
                                          </a:rPr>
                                          <m:t>𝐿</m:t>
                                        </m:r>
                                      </m:sub>
                                      <m:sup>
                                        <m:r>
                                          <a:rPr lang="en-GB" b="0" i="1" smtClean="0">
                                            <a:latin typeface="Cambria Math" panose="02040503050406030204" pitchFamily="18" charset="0"/>
                                          </a:rPr>
                                          <m:t>2</m:t>
                                        </m:r>
                                      </m:sup>
                                    </m:sSub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2</m:t>
                                        </m:r>
                                      </m:sup>
                                    </m:sSup>
                                  </m:e>
                                </m:rad>
                              </m:num>
                              <m:den>
                                <m:r>
                                  <a:rPr lang="en-GB" b="0" i="1" smtClean="0">
                                    <a:latin typeface="Cambria Math" panose="02040503050406030204" pitchFamily="18" charset="0"/>
                                  </a:rPr>
                                  <m:t>𝑎</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𝐷</m:t>
                                    </m:r>
                                  </m:e>
                                  <m:sub>
                                    <m:r>
                                      <a:rPr lang="en-GB" b="0" i="1" smtClean="0">
                                        <a:latin typeface="Cambria Math" panose="02040503050406030204" pitchFamily="18" charset="0"/>
                                      </a:rPr>
                                      <m:t>𝐿</m:t>
                                    </m:r>
                                  </m:sub>
                                </m:sSub>
                              </m:num>
                              <m:den>
                                <m:r>
                                  <a:rPr lang="en-GB" b="0" i="1" smtClean="0">
                                    <a:latin typeface="Cambria Math" panose="02040503050406030204" pitchFamily="18" charset="0"/>
                                  </a:rPr>
                                  <m:t>𝑎</m:t>
                                </m:r>
                              </m:den>
                            </m:f>
                          </m:e>
                        </m:d>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𝜅</m:t>
                        </m:r>
                        <m:func>
                          <m:funcPr>
                            <m:ctrlPr>
                              <a:rPr lang="en-GB" b="0" i="1" smtClean="0">
                                <a:latin typeface="Cambria Math" panose="02040503050406030204" pitchFamily="18" charset="0"/>
                                <a:ea typeface="Cambria Math" panose="02040503050406030204" pitchFamily="18" charset="0"/>
                              </a:rPr>
                            </m:ctrlPr>
                          </m:funcPr>
                          <m:fName>
                            <m:r>
                              <m:rPr>
                                <m:sty m:val="p"/>
                              </m:rPr>
                              <a:rPr lang="en-GB" b="0" i="0" smtClean="0">
                                <a:latin typeface="Cambria Math" panose="02040503050406030204" pitchFamily="18" charset="0"/>
                                <a:ea typeface="Cambria Math" panose="02040503050406030204" pitchFamily="18" charset="0"/>
                              </a:rPr>
                              <m:t>ln</m:t>
                            </m:r>
                          </m:fName>
                          <m:e>
                            <m:d>
                              <m:dPr>
                                <m:begChr m:val="|"/>
                                <m:endChr m:val="|"/>
                                <m:ctrlPr>
                                  <a:rPr lang="en-GB" b="0" i="1" smtClean="0">
                                    <a:latin typeface="Cambria Math" panose="02040503050406030204" pitchFamily="18" charset="0"/>
                                    <a:ea typeface="Cambria Math" panose="02040503050406030204" pitchFamily="18" charset="0"/>
                                  </a:rPr>
                                </m:ctrlPr>
                              </m:dPr>
                              <m:e>
                                <m:f>
                                  <m:fPr>
                                    <m:ctrlPr>
                                      <a:rPr lang="en-GB" b="0" i="1" smtClean="0">
                                        <a:latin typeface="Cambria Math" panose="02040503050406030204" pitchFamily="18" charset="0"/>
                                        <a:ea typeface="Cambria Math" panose="02040503050406030204" pitchFamily="18" charset="0"/>
                                      </a:rPr>
                                    </m:ctrlPr>
                                  </m:fPr>
                                  <m:num>
                                    <m:rad>
                                      <m:radPr>
                                        <m:degHide m:val="on"/>
                                        <m:ctrlPr>
                                          <a:rPr lang="en-GB" b="0" i="1" smtClean="0">
                                            <a:latin typeface="Cambria Math" panose="02040503050406030204" pitchFamily="18" charset="0"/>
                                            <a:ea typeface="Cambria Math" panose="02040503050406030204" pitchFamily="18" charset="0"/>
                                          </a:rPr>
                                        </m:ctrlPr>
                                      </m:radPr>
                                      <m:deg/>
                                      <m:e>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𝑎</m:t>
                                            </m:r>
                                          </m:e>
                                          <m:sup>
                                            <m:r>
                                              <a:rPr lang="en-GB" b="0" i="1" smtClean="0">
                                                <a:latin typeface="Cambria Math" panose="02040503050406030204" pitchFamily="18" charset="0"/>
                                                <a:ea typeface="Cambria Math" panose="02040503050406030204" pitchFamily="18" charset="0"/>
                                              </a:rPr>
                                              <m:t>2</m:t>
                                            </m:r>
                                          </m:sup>
                                        </m:sSup>
                                        <m:r>
                                          <a:rPr lang="en-GB" b="0" i="1" smtClean="0">
                                            <a:latin typeface="Cambria Math" panose="02040503050406030204" pitchFamily="18" charset="0"/>
                                            <a:ea typeface="Cambria Math" panose="02040503050406030204" pitchFamily="18" charset="0"/>
                                          </a:rPr>
                                          <m:t>+</m:t>
                                        </m:r>
                                        <m:sSubSup>
                                          <m:sSubSupPr>
                                            <m:ctrlPr>
                                              <a:rPr lang="en-GB" b="0" i="1" smtClean="0">
                                                <a:latin typeface="Cambria Math" panose="02040503050406030204" pitchFamily="18" charset="0"/>
                                                <a:ea typeface="Cambria Math" panose="02040503050406030204" pitchFamily="18" charset="0"/>
                                              </a:rPr>
                                            </m:ctrlPr>
                                          </m:sSubSupPr>
                                          <m:e>
                                            <m:r>
                                              <a:rPr lang="en-GB" b="0" i="1" smtClean="0">
                                                <a:latin typeface="Cambria Math" panose="02040503050406030204" pitchFamily="18" charset="0"/>
                                                <a:ea typeface="Cambria Math" panose="02040503050406030204" pitchFamily="18" charset="0"/>
                                              </a:rPr>
                                              <m:t>𝐷</m:t>
                                            </m:r>
                                          </m:e>
                                          <m:sub>
                                            <m:r>
                                              <a:rPr lang="en-GB" b="0" i="1" smtClean="0">
                                                <a:latin typeface="Cambria Math" panose="02040503050406030204" pitchFamily="18" charset="0"/>
                                                <a:ea typeface="Cambria Math" panose="02040503050406030204" pitchFamily="18" charset="0"/>
                                              </a:rPr>
                                              <m:t>𝐿𝑆</m:t>
                                            </m:r>
                                          </m:sub>
                                          <m:sup>
                                            <m:r>
                                              <a:rPr lang="en-GB" b="0" i="1" smtClean="0">
                                                <a:latin typeface="Cambria Math" panose="02040503050406030204" pitchFamily="18" charset="0"/>
                                                <a:ea typeface="Cambria Math" panose="02040503050406030204" pitchFamily="18" charset="0"/>
                                              </a:rPr>
                                              <m:t>2</m:t>
                                            </m:r>
                                          </m:sup>
                                        </m:sSubSup>
                                      </m:e>
                                    </m:rad>
                                  </m:num>
                                  <m:den>
                                    <m:r>
                                      <a:rPr lang="en-GB" b="0" i="1" smtClean="0">
                                        <a:latin typeface="Cambria Math" panose="02040503050406030204" pitchFamily="18" charset="0"/>
                                        <a:ea typeface="Cambria Math" panose="02040503050406030204" pitchFamily="18" charset="0"/>
                                      </a:rPr>
                                      <m:t>𝑎</m:t>
                                    </m:r>
                                  </m:den>
                                </m:f>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𝜅</m:t>
                                </m:r>
                                <m:f>
                                  <m:fPr>
                                    <m:ctrlPr>
                                      <a:rPr lang="en-GB" b="0" i="1" smtClean="0">
                                        <a:latin typeface="Cambria Math" panose="02040503050406030204" pitchFamily="18" charset="0"/>
                                        <a:ea typeface="Cambria Math" panose="02040503050406030204" pitchFamily="18" charset="0"/>
                                      </a:rPr>
                                    </m:ctrlPr>
                                  </m:fPr>
                                  <m:num>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𝐷</m:t>
                                        </m:r>
                                      </m:e>
                                      <m:sub>
                                        <m:r>
                                          <a:rPr lang="en-GB" b="0" i="1" smtClean="0">
                                            <a:latin typeface="Cambria Math" panose="02040503050406030204" pitchFamily="18" charset="0"/>
                                            <a:ea typeface="Cambria Math" panose="02040503050406030204" pitchFamily="18" charset="0"/>
                                          </a:rPr>
                                          <m:t>𝐿𝑆</m:t>
                                        </m:r>
                                      </m:sub>
                                    </m:sSub>
                                  </m:num>
                                  <m:den>
                                    <m:r>
                                      <a:rPr lang="en-GB" b="0" i="1" smtClean="0">
                                        <a:latin typeface="Cambria Math" panose="02040503050406030204" pitchFamily="18" charset="0"/>
                                        <a:ea typeface="Cambria Math" panose="02040503050406030204" pitchFamily="18" charset="0"/>
                                      </a:rPr>
                                      <m:t>𝑎</m:t>
                                    </m:r>
                                  </m:den>
                                </m:f>
                              </m:e>
                            </m:d>
                          </m:e>
                        </m:func>
                      </m:e>
                    </m:d>
                  </m:oMath>
                </a14:m>
                <a:endParaRPr lang="en-GB" dirty="0"/>
              </a:p>
              <a:p>
                <a:pPr lvl="1"/>
                <a:endParaRPr lang="en-GB" dirty="0"/>
              </a:p>
              <a:p>
                <a:pPr lvl="1"/>
                <a:r>
                  <a:rPr lang="en-GB" dirty="0"/>
                  <a:t>Where </a:t>
                </a:r>
                <a14:m>
                  <m:oMath xmlns:m="http://schemas.openxmlformats.org/officeDocument/2006/math">
                    <m:r>
                      <a:rPr lang="en-GB" i="1" smtClean="0">
                        <a:latin typeface="Cambria Math" panose="02040503050406030204" pitchFamily="18" charset="0"/>
                        <a:ea typeface="Cambria Math" panose="02040503050406030204" pitchFamily="18" charset="0"/>
                      </a:rPr>
                      <m:t>𝜅</m:t>
                    </m:r>
                    <m:r>
                      <a:rPr lang="en-GB" b="0" i="1" smtClean="0">
                        <a:latin typeface="Cambria Math" panose="02040503050406030204" pitchFamily="18" charset="0"/>
                        <a:ea typeface="Cambria Math" panose="02040503050406030204" pitchFamily="18" charset="0"/>
                      </a:rPr>
                      <m:t>=</m:t>
                    </m:r>
                    <m:f>
                      <m:fPr>
                        <m:ctrlPr>
                          <a:rPr lang="en-GB" b="0" i="1" smtClean="0">
                            <a:latin typeface="Cambria Math" panose="02040503050406030204" pitchFamily="18" charset="0"/>
                            <a:ea typeface="Cambria Math" panose="02040503050406030204" pitchFamily="18" charset="0"/>
                          </a:rPr>
                        </m:ctrlPr>
                      </m:fPr>
                      <m:num>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𝐷</m:t>
                            </m:r>
                          </m:e>
                          <m:sub>
                            <m:r>
                              <a:rPr lang="en-GB" b="0" i="1" smtClean="0">
                                <a:latin typeface="Cambria Math" panose="02040503050406030204" pitchFamily="18" charset="0"/>
                                <a:ea typeface="Cambria Math" panose="02040503050406030204" pitchFamily="18" charset="0"/>
                              </a:rPr>
                              <m:t>𝐿𝑆</m:t>
                            </m:r>
                          </m:sub>
                        </m:sSub>
                      </m:num>
                      <m:den>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𝐷</m:t>
                            </m:r>
                          </m:e>
                          <m:sub>
                            <m:r>
                              <a:rPr lang="en-GB" b="0" i="1" smtClean="0">
                                <a:latin typeface="Cambria Math" panose="02040503050406030204" pitchFamily="18" charset="0"/>
                                <a:ea typeface="Cambria Math" panose="02040503050406030204" pitchFamily="18" charset="0"/>
                              </a:rPr>
                              <m:t>𝐿𝑆</m:t>
                            </m:r>
                          </m:sub>
                        </m:sSub>
                        <m:r>
                          <a:rPr lang="en-GB" b="0" i="1" smtClean="0">
                            <a:latin typeface="Cambria Math" panose="02040503050406030204" pitchFamily="18" charset="0"/>
                            <a:ea typeface="Cambria Math" panose="02040503050406030204" pitchFamily="18" charset="0"/>
                          </a:rPr>
                          <m:t>|</m:t>
                        </m:r>
                      </m:den>
                    </m:f>
                  </m:oMath>
                </a14:m>
                <a:endParaRPr lang="en-GB" dirty="0"/>
              </a:p>
            </p:txBody>
          </p:sp>
        </mc:Choice>
        <mc:Fallback xmlns="">
          <p:sp>
            <p:nvSpPr>
              <p:cNvPr id="3" name="Content Placeholder 2">
                <a:extLst>
                  <a:ext uri="{FF2B5EF4-FFF2-40B4-BE49-F238E27FC236}">
                    <a16:creationId xmlns:a16="http://schemas.microsoft.com/office/drawing/2014/main" id="{A9393AB9-AAB7-420B-815F-5FEA72445D5B}"/>
                  </a:ext>
                </a:extLst>
              </p:cNvPr>
              <p:cNvSpPr>
                <a:spLocks noGrp="1" noRot="1" noChangeAspect="1" noMove="1" noResize="1" noEditPoints="1" noAdjustHandles="1" noChangeArrowheads="1" noChangeShapeType="1" noTextEdit="1"/>
              </p:cNvSpPr>
              <p:nvPr>
                <p:ph idx="1"/>
              </p:nvPr>
            </p:nvSpPr>
            <p:spPr>
              <a:xfrm>
                <a:off x="838200" y="3935186"/>
                <a:ext cx="10515600" cy="2318658"/>
              </a:xfrm>
              <a:blipFill>
                <a:blip r:embed="rId3"/>
                <a:stretch>
                  <a:fillRect l="-1043" t="-4474"/>
                </a:stretch>
              </a:blipFill>
            </p:spPr>
            <p:txBody>
              <a:bodyPr/>
              <a:lstStyle/>
              <a:p>
                <a:r>
                  <a:rPr lang="en-GB">
                    <a:noFill/>
                  </a:rPr>
                  <a:t> </a:t>
                </a:r>
              </a:p>
            </p:txBody>
          </p:sp>
        </mc:Fallback>
      </mc:AlternateContent>
      <p:pic>
        <p:nvPicPr>
          <p:cNvPr id="4" name="Content Placeholder 4" descr="A picture containing text, sky, map, different&#10;&#10;Description automatically generated">
            <a:extLst>
              <a:ext uri="{FF2B5EF4-FFF2-40B4-BE49-F238E27FC236}">
                <a16:creationId xmlns:a16="http://schemas.microsoft.com/office/drawing/2014/main" id="{543668E7-02CB-48E9-B890-E976FD6F368A}"/>
              </a:ext>
            </a:extLst>
          </p:cNvPr>
          <p:cNvPicPr>
            <a:picLocks noChangeAspect="1"/>
          </p:cNvPicPr>
          <p:nvPr/>
        </p:nvPicPr>
        <p:blipFill rotWithShape="1">
          <a:blip r:embed="rId4">
            <a:alphaModFix amt="90000"/>
            <a:extLst>
              <a:ext uri="{28A0092B-C50C-407E-A947-70E740481C1C}">
                <a14:useLocalDpi xmlns:a14="http://schemas.microsoft.com/office/drawing/2010/main" val="0"/>
              </a:ext>
            </a:extLst>
          </a:blip>
          <a:srcRect t="3351" b="4943"/>
          <a:stretch/>
        </p:blipFill>
        <p:spPr>
          <a:xfrm>
            <a:off x="1528233" y="637031"/>
            <a:ext cx="9135533" cy="3298155"/>
          </a:xfrm>
          <a:prstGeom prst="rect">
            <a:avLst/>
          </a:prstGeom>
        </p:spPr>
      </p:pic>
    </p:spTree>
    <p:extLst>
      <p:ext uri="{BB962C8B-B14F-4D97-AF65-F5344CB8AC3E}">
        <p14:creationId xmlns:p14="http://schemas.microsoft.com/office/powerpoint/2010/main" val="3303619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wirling meteorite">
            <a:extLst>
              <a:ext uri="{FF2B5EF4-FFF2-40B4-BE49-F238E27FC236}">
                <a16:creationId xmlns:a16="http://schemas.microsoft.com/office/drawing/2014/main" id="{E8285FFA-8869-4BA4-8262-7B35BEB57EE7}"/>
              </a:ext>
            </a:extLst>
          </p:cNvPr>
          <p:cNvPicPr>
            <a:picLocks noChangeAspect="1"/>
          </p:cNvPicPr>
          <p:nvPr/>
        </p:nvPicPr>
        <p:blipFill rotWithShape="1">
          <a:blip r:embed="rId3">
            <a:alphaModFix/>
          </a:blip>
          <a:srcRect t="157" b="12971"/>
          <a:stretch/>
        </p:blipFill>
        <p:spPr>
          <a:xfrm>
            <a:off x="-1260340" y="-1685261"/>
            <a:ext cx="18184010" cy="10228521"/>
          </a:xfrm>
          <a:prstGeom prst="rect">
            <a:avLst/>
          </a:prstGeom>
        </p:spPr>
      </p:pic>
      <p:sp>
        <p:nvSpPr>
          <p:cNvPr id="4" name="Rectangle 3">
            <a:extLst>
              <a:ext uri="{FF2B5EF4-FFF2-40B4-BE49-F238E27FC236}">
                <a16:creationId xmlns:a16="http://schemas.microsoft.com/office/drawing/2014/main" id="{EC7759D7-1DC5-42E5-8C19-E9BA721B86B3}"/>
              </a:ext>
            </a:extLst>
          </p:cNvPr>
          <p:cNvSpPr/>
          <p:nvPr/>
        </p:nvSpPr>
        <p:spPr>
          <a:xfrm>
            <a:off x="710609" y="595423"/>
            <a:ext cx="10770782" cy="566715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24396ECA-3364-4F7C-B1E8-CEFCDF120095}"/>
              </a:ext>
            </a:extLst>
          </p:cNvPr>
          <p:cNvSpPr>
            <a:spLocks noGrp="1"/>
          </p:cNvSpPr>
          <p:nvPr>
            <p:ph type="title"/>
          </p:nvPr>
        </p:nvSpPr>
        <p:spPr>
          <a:xfrm>
            <a:off x="838200" y="595423"/>
            <a:ext cx="10515600" cy="1095265"/>
          </a:xfrm>
        </p:spPr>
        <p:txBody>
          <a:bodyPr/>
          <a:lstStyle/>
          <a:p>
            <a:pPr algn="ctr"/>
            <a:r>
              <a:rPr lang="en-GB" dirty="0"/>
              <a:t>PSR J0737-3039A/B</a:t>
            </a:r>
          </a:p>
        </p:txBody>
      </p:sp>
      <p:sp>
        <p:nvSpPr>
          <p:cNvPr id="3" name="Content Placeholder 2">
            <a:extLst>
              <a:ext uri="{FF2B5EF4-FFF2-40B4-BE49-F238E27FC236}">
                <a16:creationId xmlns:a16="http://schemas.microsoft.com/office/drawing/2014/main" id="{C3FCF0C0-015B-482D-8BEA-7B9CE95292C9}"/>
              </a:ext>
            </a:extLst>
          </p:cNvPr>
          <p:cNvSpPr>
            <a:spLocks noGrp="1"/>
          </p:cNvSpPr>
          <p:nvPr>
            <p:ph idx="1"/>
          </p:nvPr>
        </p:nvSpPr>
        <p:spPr/>
        <p:txBody>
          <a:bodyPr/>
          <a:lstStyle/>
          <a:p>
            <a:r>
              <a:rPr lang="en-GB" dirty="0"/>
              <a:t>Unique due to the fact that both neutron stars in the binary system are detectable as radio pulsars.</a:t>
            </a:r>
          </a:p>
        </p:txBody>
      </p:sp>
    </p:spTree>
    <p:extLst>
      <p:ext uri="{BB962C8B-B14F-4D97-AF65-F5344CB8AC3E}">
        <p14:creationId xmlns:p14="http://schemas.microsoft.com/office/powerpoint/2010/main" val="877542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wirling meteorite">
            <a:extLst>
              <a:ext uri="{FF2B5EF4-FFF2-40B4-BE49-F238E27FC236}">
                <a16:creationId xmlns:a16="http://schemas.microsoft.com/office/drawing/2014/main" id="{47F4D367-9A80-41D3-B42A-45202E7A426F}"/>
              </a:ext>
            </a:extLst>
          </p:cNvPr>
          <p:cNvPicPr>
            <a:picLocks noChangeAspect="1"/>
          </p:cNvPicPr>
          <p:nvPr/>
        </p:nvPicPr>
        <p:blipFill rotWithShape="1">
          <a:blip r:embed="rId3">
            <a:alphaModFix/>
          </a:blip>
          <a:srcRect t="157" b="12971"/>
          <a:stretch/>
        </p:blipFill>
        <p:spPr>
          <a:xfrm>
            <a:off x="-1091006" y="-1685261"/>
            <a:ext cx="18184010" cy="10228521"/>
          </a:xfrm>
          <a:prstGeom prst="rect">
            <a:avLst/>
          </a:prstGeom>
        </p:spPr>
      </p:pic>
      <p:sp>
        <p:nvSpPr>
          <p:cNvPr id="4" name="Rectangle 3">
            <a:extLst>
              <a:ext uri="{FF2B5EF4-FFF2-40B4-BE49-F238E27FC236}">
                <a16:creationId xmlns:a16="http://schemas.microsoft.com/office/drawing/2014/main" id="{5FDBD61E-3E14-46D4-B218-0535D1B59F99}"/>
              </a:ext>
            </a:extLst>
          </p:cNvPr>
          <p:cNvSpPr/>
          <p:nvPr/>
        </p:nvSpPr>
        <p:spPr>
          <a:xfrm>
            <a:off x="710609" y="595423"/>
            <a:ext cx="10770782" cy="566715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491146E-2236-473A-9B8F-362EED68753A}"/>
              </a:ext>
            </a:extLst>
          </p:cNvPr>
          <p:cNvSpPr>
            <a:spLocks noGrp="1"/>
          </p:cNvSpPr>
          <p:nvPr>
            <p:ph type="title"/>
          </p:nvPr>
        </p:nvSpPr>
        <p:spPr>
          <a:xfrm>
            <a:off x="838200" y="595423"/>
            <a:ext cx="10515600" cy="1095265"/>
          </a:xfrm>
        </p:spPr>
        <p:txBody>
          <a:bodyPr/>
          <a:lstStyle/>
          <a:p>
            <a:pPr algn="ctr"/>
            <a:r>
              <a:rPr lang="en-GB" dirty="0"/>
              <a:t>Strong field gravity tests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A93C4C-AA95-4494-B6BF-9F75BC0560F5}"/>
                  </a:ext>
                </a:extLst>
              </p:cNvPr>
              <p:cNvSpPr>
                <a:spLocks noGrp="1"/>
              </p:cNvSpPr>
              <p:nvPr>
                <p:ph idx="1"/>
              </p:nvPr>
            </p:nvSpPr>
            <p:spPr/>
            <p:txBody>
              <a:bodyPr/>
              <a:lstStyle/>
              <a:p>
                <a:r>
                  <a:rPr lang="en-GB" dirty="0"/>
                  <a:t>One can test </a:t>
                </a:r>
                <a:r>
                  <a:rPr lang="en-GB" i="1" dirty="0"/>
                  <a:t>s</a:t>
                </a:r>
                <a:r>
                  <a:rPr lang="en-GB" dirty="0"/>
                  <a:t> as part of a </a:t>
                </a:r>
                <a14:m>
                  <m:oMath xmlns:m="http://schemas.openxmlformats.org/officeDocument/2006/math">
                    <m:acc>
                      <m:accPr>
                        <m:chr m:val="̇"/>
                        <m:ctrlPr>
                          <a:rPr lang="en-GB" i="1" smtClean="0">
                            <a:latin typeface="Cambria Math" panose="02040503050406030204" pitchFamily="18" charset="0"/>
                          </a:rPr>
                        </m:ctrlPr>
                      </m:accPr>
                      <m:e>
                        <m:r>
                          <a:rPr lang="en-GB" i="1" smtClean="0">
                            <a:latin typeface="Cambria Math" panose="02040503050406030204" pitchFamily="18" charset="0"/>
                            <a:ea typeface="Cambria Math" panose="02040503050406030204" pitchFamily="18" charset="0"/>
                          </a:rPr>
                          <m:t>𝜔</m:t>
                        </m:r>
                      </m:e>
                    </m:acc>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𝛾</m:t>
                        </m:r>
                      </m:e>
                      <m:sub>
                        <m:r>
                          <a:rPr lang="en-GB" b="0" i="1" smtClean="0">
                            <a:latin typeface="Cambria Math" panose="02040503050406030204" pitchFamily="18" charset="0"/>
                          </a:rPr>
                          <m:t>𝐸</m:t>
                        </m:r>
                      </m:sub>
                    </m:sSub>
                    <m:r>
                      <a:rPr lang="en-GB" b="0" i="1" smtClean="0">
                        <a:latin typeface="Cambria Math" panose="02040503050406030204" pitchFamily="18" charset="0"/>
                      </a:rPr>
                      <m:t>−</m:t>
                    </m:r>
                    <m:r>
                      <a:rPr lang="en-GB" b="0" i="1" smtClean="0">
                        <a:latin typeface="Cambria Math" panose="02040503050406030204" pitchFamily="18" charset="0"/>
                      </a:rPr>
                      <m:t>𝑠</m:t>
                    </m:r>
                  </m:oMath>
                </a14:m>
                <a:r>
                  <a:rPr lang="en-GB" dirty="0"/>
                  <a:t> test, which leads to:</a:t>
                </a:r>
              </a:p>
              <a:p>
                <a:endParaRPr lang="en-GB" dirty="0"/>
              </a:p>
              <a:p>
                <a14:m>
                  <m:oMath xmlns:m="http://schemas.openxmlformats.org/officeDocument/2006/math">
                    <m:f>
                      <m:fPr>
                        <m:ctrlPr>
                          <a:rPr lang="en-GB" i="1" smtClean="0">
                            <a:latin typeface="Cambria Math" panose="02040503050406030204" pitchFamily="18" charset="0"/>
                          </a:rPr>
                        </m:ctrlPr>
                      </m:fPr>
                      <m:num>
                        <m:sSup>
                          <m:sSupPr>
                            <m:ctrlPr>
                              <a:rPr lang="en-GB" i="1" smtClean="0">
                                <a:latin typeface="Cambria Math" panose="02040503050406030204" pitchFamily="18" charset="0"/>
                              </a:rPr>
                            </m:ctrlPr>
                          </m:sSupPr>
                          <m:e>
                            <m:r>
                              <a:rPr lang="en-GB" b="0" i="1" smtClean="0">
                                <a:latin typeface="Cambria Math" panose="02040503050406030204" pitchFamily="18" charset="0"/>
                              </a:rPr>
                              <m:t>𝑠</m:t>
                            </m:r>
                          </m:e>
                          <m:sup>
                            <m:r>
                              <a:rPr lang="en-GB" b="0" i="1" smtClean="0">
                                <a:latin typeface="Cambria Math" panose="02040503050406030204" pitchFamily="18" charset="0"/>
                              </a:rPr>
                              <m:t>𝑜𝑏𝑠</m:t>
                            </m:r>
                          </m:sup>
                        </m:sSup>
                      </m:num>
                      <m:den>
                        <m:sSup>
                          <m:sSupPr>
                            <m:ctrlPr>
                              <a:rPr lang="en-GB" i="1" smtClean="0">
                                <a:latin typeface="Cambria Math" panose="02040503050406030204" pitchFamily="18" charset="0"/>
                              </a:rPr>
                            </m:ctrlPr>
                          </m:sSupPr>
                          <m:e>
                            <m:r>
                              <a:rPr lang="en-GB" b="0" i="1" smtClean="0">
                                <a:latin typeface="Cambria Math" panose="02040503050406030204" pitchFamily="18" charset="0"/>
                              </a:rPr>
                              <m:t>𝑠</m:t>
                            </m:r>
                          </m:e>
                          <m:sup>
                            <m:r>
                              <a:rPr lang="en-GB" b="0" i="1" smtClean="0">
                                <a:latin typeface="Cambria Math" panose="02040503050406030204" pitchFamily="18" charset="0"/>
                              </a:rPr>
                              <m:t>𝐺𝑅</m:t>
                            </m:r>
                          </m:sup>
                        </m:sSup>
                      </m:den>
                    </m:f>
                    <m:r>
                      <a:rPr lang="en-GB" b="0" i="1" smtClean="0">
                        <a:latin typeface="Cambria Math" panose="02040503050406030204" pitchFamily="18" charset="0"/>
                      </a:rPr>
                      <m:t>=1.000 09(18)</m:t>
                    </m:r>
                  </m:oMath>
                </a14:m>
                <a:endParaRPr lang="en-GB" dirty="0"/>
              </a:p>
              <a:p>
                <a:endParaRPr lang="en-GB" dirty="0"/>
              </a:p>
              <a:p>
                <a:r>
                  <a:rPr lang="en-GB" dirty="0"/>
                  <a:t>Meaning a 4 x 10</a:t>
                </a:r>
                <a:r>
                  <a:rPr lang="en-GB" baseline="30000" dirty="0"/>
                  <a:t>-4</a:t>
                </a:r>
                <a:r>
                  <a:rPr lang="en-GB" dirty="0"/>
                  <a:t> (95% C.L.) test in agreement with GR</a:t>
                </a:r>
              </a:p>
              <a:p>
                <a:pPr marL="0" indent="0">
                  <a:buNone/>
                </a:pPr>
                <a:endParaRPr lang="en-GB" dirty="0"/>
              </a:p>
            </p:txBody>
          </p:sp>
        </mc:Choice>
        <mc:Fallback xmlns="">
          <p:sp>
            <p:nvSpPr>
              <p:cNvPr id="3" name="Content Placeholder 2">
                <a:extLst>
                  <a:ext uri="{FF2B5EF4-FFF2-40B4-BE49-F238E27FC236}">
                    <a16:creationId xmlns:a16="http://schemas.microsoft.com/office/drawing/2014/main" id="{9AA93C4C-AA95-4494-B6BF-9F75BC0560F5}"/>
                  </a:ext>
                </a:extLst>
              </p:cNvPr>
              <p:cNvSpPr>
                <a:spLocks noGrp="1" noRot="1" noChangeAspect="1" noMove="1" noResize="1" noEditPoints="1" noAdjustHandles="1" noChangeArrowheads="1" noChangeShapeType="1" noTextEdit="1"/>
              </p:cNvSpPr>
              <p:nvPr>
                <p:ph idx="1"/>
              </p:nvPr>
            </p:nvSpPr>
            <p:spPr>
              <a:blipFill>
                <a:blip r:embed="rId4"/>
                <a:stretch>
                  <a:fillRect l="-1043" t="-2241"/>
                </a:stretch>
              </a:blipFill>
            </p:spPr>
            <p:txBody>
              <a:bodyPr/>
              <a:lstStyle/>
              <a:p>
                <a:r>
                  <a:rPr lang="en-GB">
                    <a:noFill/>
                  </a:rPr>
                  <a:t> </a:t>
                </a:r>
              </a:p>
            </p:txBody>
          </p:sp>
        </mc:Fallback>
      </mc:AlternateContent>
    </p:spTree>
    <p:extLst>
      <p:ext uri="{BB962C8B-B14F-4D97-AF65-F5344CB8AC3E}">
        <p14:creationId xmlns:p14="http://schemas.microsoft.com/office/powerpoint/2010/main" val="3099209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wirling meteorite">
            <a:extLst>
              <a:ext uri="{FF2B5EF4-FFF2-40B4-BE49-F238E27FC236}">
                <a16:creationId xmlns:a16="http://schemas.microsoft.com/office/drawing/2014/main" id="{306A78D0-8409-4703-B9F1-339FC57C2107}"/>
              </a:ext>
            </a:extLst>
          </p:cNvPr>
          <p:cNvPicPr>
            <a:picLocks noChangeAspect="1"/>
          </p:cNvPicPr>
          <p:nvPr/>
        </p:nvPicPr>
        <p:blipFill rotWithShape="1">
          <a:blip r:embed="rId3">
            <a:alphaModFix/>
          </a:blip>
          <a:srcRect t="157" b="12971"/>
          <a:stretch/>
        </p:blipFill>
        <p:spPr>
          <a:xfrm>
            <a:off x="-938606" y="-1685261"/>
            <a:ext cx="18184010" cy="10228521"/>
          </a:xfrm>
          <a:prstGeom prst="rect">
            <a:avLst/>
          </a:prstGeom>
        </p:spPr>
      </p:pic>
      <p:sp>
        <p:nvSpPr>
          <p:cNvPr id="4" name="Rectangle 3">
            <a:extLst>
              <a:ext uri="{FF2B5EF4-FFF2-40B4-BE49-F238E27FC236}">
                <a16:creationId xmlns:a16="http://schemas.microsoft.com/office/drawing/2014/main" id="{5AF7B283-04AE-43C3-82F8-7D7234E6F99C}"/>
              </a:ext>
            </a:extLst>
          </p:cNvPr>
          <p:cNvSpPr/>
          <p:nvPr/>
        </p:nvSpPr>
        <p:spPr>
          <a:xfrm>
            <a:off x="710609" y="595423"/>
            <a:ext cx="10770782" cy="566715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E0E3685-BC71-4FDD-A41E-505BC171903C}"/>
              </a:ext>
            </a:extLst>
          </p:cNvPr>
          <p:cNvSpPr>
            <a:spLocks noGrp="1"/>
          </p:cNvSpPr>
          <p:nvPr>
            <p:ph type="title"/>
          </p:nvPr>
        </p:nvSpPr>
        <p:spPr>
          <a:xfrm>
            <a:off x="838200" y="595423"/>
            <a:ext cx="10515600" cy="1095265"/>
          </a:xfrm>
        </p:spPr>
        <p:txBody>
          <a:bodyPr/>
          <a:lstStyle/>
          <a:p>
            <a:pPr algn="ctr"/>
            <a:r>
              <a:rPr lang="en-GB" dirty="0"/>
              <a:t>Strong field gravity tests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9B8C6C8-F205-430D-BD98-66F991A081EB}"/>
                  </a:ext>
                </a:extLst>
              </p:cNvPr>
              <p:cNvSpPr>
                <a:spLocks noGrp="1"/>
              </p:cNvSpPr>
              <p:nvPr>
                <p:ph idx="1"/>
              </p:nvPr>
            </p:nvSpPr>
            <p:spPr/>
            <p:txBody>
              <a:bodyPr/>
              <a:lstStyle/>
              <a:p>
                <a:r>
                  <a:rPr lang="en-GB" dirty="0"/>
                  <a:t>A test of the Shapiro range </a:t>
                </a:r>
                <a14:m>
                  <m:oMath xmlns:m="http://schemas.openxmlformats.org/officeDocument/2006/math">
                    <m:r>
                      <a:rPr lang="en-GB" b="0" i="1" smtClean="0">
                        <a:latin typeface="Cambria Math" panose="02040503050406030204" pitchFamily="18" charset="0"/>
                      </a:rPr>
                      <m:t>𝑟</m:t>
                    </m:r>
                  </m:oMath>
                </a14:m>
                <a:r>
                  <a:rPr lang="en-GB" dirty="0"/>
                  <a:t> directly probes the interaction between a strongly self-gravitating NS and a photon. </a:t>
                </a:r>
              </a:p>
              <a:p>
                <a:endParaRPr lang="en-GB" dirty="0"/>
              </a:p>
              <a:p>
                <a:r>
                  <a:rPr lang="en-GB" dirty="0"/>
                  <a:t>Paper shows that:</a:t>
                </a:r>
              </a:p>
              <a:p>
                <a:endParaRPr lang="en-GB" dirty="0"/>
              </a:p>
              <a:p>
                <a14:m>
                  <m:oMath xmlns:m="http://schemas.openxmlformats.org/officeDocument/2006/math">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r>
                              <a:rPr lang="en-GB" b="0" i="1" smtClean="0">
                                <a:latin typeface="Cambria Math" panose="02040503050406030204" pitchFamily="18" charset="0"/>
                              </a:rPr>
                              <m:t>𝑟</m:t>
                            </m:r>
                          </m:e>
                          <m:sup>
                            <m:r>
                              <a:rPr lang="en-GB" b="0" i="1" smtClean="0">
                                <a:latin typeface="Cambria Math" panose="02040503050406030204" pitchFamily="18" charset="0"/>
                              </a:rPr>
                              <m:t>𝑜𝑏𝑠</m:t>
                            </m:r>
                          </m:sup>
                        </m:sSup>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𝑟</m:t>
                            </m:r>
                          </m:e>
                          <m:sup>
                            <m:r>
                              <a:rPr lang="en-GB" b="0" i="1" smtClean="0">
                                <a:latin typeface="Cambria Math" panose="02040503050406030204" pitchFamily="18" charset="0"/>
                              </a:rPr>
                              <m:t>𝐺𝑅</m:t>
                            </m:r>
                          </m:sup>
                        </m:sSup>
                      </m:den>
                    </m:f>
                    <m:r>
                      <a:rPr lang="en-GB" b="0" i="1" smtClean="0">
                        <a:latin typeface="Cambria Math" panose="02040503050406030204" pitchFamily="18" charset="0"/>
                      </a:rPr>
                      <m:t>=1.0016</m:t>
                    </m:r>
                    <m:d>
                      <m:dPr>
                        <m:ctrlPr>
                          <a:rPr lang="en-GB" b="0" i="1" smtClean="0">
                            <a:latin typeface="Cambria Math" panose="02040503050406030204" pitchFamily="18" charset="0"/>
                          </a:rPr>
                        </m:ctrlPr>
                      </m:dPr>
                      <m:e>
                        <m:r>
                          <a:rPr lang="en-GB" b="0" i="1" smtClean="0">
                            <a:latin typeface="Cambria Math" panose="02040503050406030204" pitchFamily="18" charset="0"/>
                          </a:rPr>
                          <m:t>34</m:t>
                        </m:r>
                      </m:e>
                    </m:d>
                  </m:oMath>
                </a14:m>
                <a:endParaRPr lang="en-GB" dirty="0"/>
              </a:p>
              <a:p>
                <a:r>
                  <a:rPr lang="en-GB" dirty="0"/>
                  <a:t>leading to a 7 x 10</a:t>
                </a:r>
                <a:r>
                  <a:rPr lang="en-GB" baseline="30000" dirty="0"/>
                  <a:t>-3</a:t>
                </a:r>
                <a:r>
                  <a:rPr lang="en-GB" dirty="0"/>
                  <a:t> (95% C.L.) test of </a:t>
                </a:r>
                <a14:m>
                  <m:oMath xmlns:m="http://schemas.openxmlformats.org/officeDocument/2006/math">
                    <m:r>
                      <a:rPr lang="en-GB" b="0" i="1" smtClean="0">
                        <a:latin typeface="Cambria Math" panose="02040503050406030204" pitchFamily="18" charset="0"/>
                      </a:rPr>
                      <m:t>𝑟</m:t>
                    </m:r>
                  </m:oMath>
                </a14:m>
                <a:r>
                  <a:rPr lang="en-GB" dirty="0"/>
                  <a:t> in agreement with GR</a:t>
                </a:r>
              </a:p>
            </p:txBody>
          </p:sp>
        </mc:Choice>
        <mc:Fallback xmlns="">
          <p:sp>
            <p:nvSpPr>
              <p:cNvPr id="3" name="Content Placeholder 2">
                <a:extLst>
                  <a:ext uri="{FF2B5EF4-FFF2-40B4-BE49-F238E27FC236}">
                    <a16:creationId xmlns:a16="http://schemas.microsoft.com/office/drawing/2014/main" id="{39B8C6C8-F205-430D-BD98-66F991A081EB}"/>
                  </a:ext>
                </a:extLst>
              </p:cNvPr>
              <p:cNvSpPr>
                <a:spLocks noGrp="1" noRot="1" noChangeAspect="1" noMove="1" noResize="1" noEditPoints="1" noAdjustHandles="1" noChangeArrowheads="1" noChangeShapeType="1" noTextEdit="1"/>
              </p:cNvSpPr>
              <p:nvPr>
                <p:ph idx="1"/>
              </p:nvPr>
            </p:nvSpPr>
            <p:spPr>
              <a:blipFill>
                <a:blip r:embed="rId4"/>
                <a:stretch>
                  <a:fillRect l="-1043" t="-2241"/>
                </a:stretch>
              </a:blipFill>
            </p:spPr>
            <p:txBody>
              <a:bodyPr/>
              <a:lstStyle/>
              <a:p>
                <a:r>
                  <a:rPr lang="en-GB">
                    <a:noFill/>
                  </a:rPr>
                  <a:t> </a:t>
                </a:r>
              </a:p>
            </p:txBody>
          </p:sp>
        </mc:Fallback>
      </mc:AlternateContent>
    </p:spTree>
    <p:extLst>
      <p:ext uri="{BB962C8B-B14F-4D97-AF65-F5344CB8AC3E}">
        <p14:creationId xmlns:p14="http://schemas.microsoft.com/office/powerpoint/2010/main" val="3965939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wirling meteorite">
            <a:extLst>
              <a:ext uri="{FF2B5EF4-FFF2-40B4-BE49-F238E27FC236}">
                <a16:creationId xmlns:a16="http://schemas.microsoft.com/office/drawing/2014/main" id="{65A278EC-F8EA-478B-9636-B25F27B30CC8}"/>
              </a:ext>
            </a:extLst>
          </p:cNvPr>
          <p:cNvPicPr>
            <a:picLocks noChangeAspect="1"/>
          </p:cNvPicPr>
          <p:nvPr/>
        </p:nvPicPr>
        <p:blipFill rotWithShape="1">
          <a:blip r:embed="rId3">
            <a:alphaModFix/>
          </a:blip>
          <a:srcRect t="157" b="12971"/>
          <a:stretch/>
        </p:blipFill>
        <p:spPr>
          <a:xfrm>
            <a:off x="-820072" y="-1685261"/>
            <a:ext cx="18184010" cy="10228521"/>
          </a:xfrm>
          <a:prstGeom prst="rect">
            <a:avLst/>
          </a:prstGeom>
        </p:spPr>
      </p:pic>
      <p:sp>
        <p:nvSpPr>
          <p:cNvPr id="4" name="Rectangle 3">
            <a:extLst>
              <a:ext uri="{FF2B5EF4-FFF2-40B4-BE49-F238E27FC236}">
                <a16:creationId xmlns:a16="http://schemas.microsoft.com/office/drawing/2014/main" id="{52515F56-8F39-4431-8A46-95E391BEDF78}"/>
              </a:ext>
            </a:extLst>
          </p:cNvPr>
          <p:cNvSpPr/>
          <p:nvPr/>
        </p:nvSpPr>
        <p:spPr>
          <a:xfrm>
            <a:off x="710609" y="595423"/>
            <a:ext cx="10770782" cy="566715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E04EB31D-7D65-4467-82E4-48C5BA9A740F}"/>
              </a:ext>
            </a:extLst>
          </p:cNvPr>
          <p:cNvSpPr>
            <a:spLocks noGrp="1"/>
          </p:cNvSpPr>
          <p:nvPr>
            <p:ph type="title"/>
          </p:nvPr>
        </p:nvSpPr>
        <p:spPr>
          <a:xfrm>
            <a:off x="838200" y="595423"/>
            <a:ext cx="10515600" cy="1095265"/>
          </a:xfrm>
        </p:spPr>
        <p:txBody>
          <a:bodyPr/>
          <a:lstStyle/>
          <a:p>
            <a:pPr algn="ctr"/>
            <a:r>
              <a:rPr lang="en-GB" dirty="0"/>
              <a:t>PSR J0740+6620</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0F3858-2627-4F71-91E7-49934DAD042C}"/>
                  </a:ext>
                </a:extLst>
              </p:cNvPr>
              <p:cNvSpPr>
                <a:spLocks noGrp="1"/>
              </p:cNvSpPr>
              <p:nvPr>
                <p:ph idx="1"/>
              </p:nvPr>
            </p:nvSpPr>
            <p:spPr/>
            <p:txBody>
              <a:bodyPr>
                <a:normAutofit fontScale="92500"/>
              </a:bodyPr>
              <a:lstStyle/>
              <a:p>
                <a:r>
                  <a:rPr lang="en-GB" dirty="0"/>
                  <a:t>Spins at approximately 346Hz as it orbits with its binary companion</a:t>
                </a:r>
              </a:p>
              <a:p>
                <a:r>
                  <a:rPr lang="en-GB" dirty="0"/>
                  <a:t>Being in a binary at a favourable inclination for measurement of the Shapiro delay allows the mass of this source to be measured independently via radio timing. </a:t>
                </a:r>
              </a:p>
              <a:p>
                <a:r>
                  <a:rPr lang="en-GB" dirty="0"/>
                  <a:t>Highest mass neutron star (Cromartie et al (2020))</a:t>
                </a:r>
              </a:p>
              <a:p>
                <a:r>
                  <a:rPr lang="en-GB" dirty="0"/>
                  <a:t>High-mass neutron stars (with the highest central densities) are particularly powerful in terms of their potential to constrain the dense matter EOS. </a:t>
                </a:r>
              </a:p>
              <a:p>
                <a:r>
                  <a:rPr lang="en-GB" dirty="0"/>
                  <a:t>The radio observations of the Shapiro delay by </a:t>
                </a:r>
                <a:r>
                  <a:rPr lang="en-GB" dirty="0" err="1"/>
                  <a:t>NANOGrav</a:t>
                </a:r>
                <a:r>
                  <a:rPr lang="en-GB" dirty="0"/>
                  <a:t> and CHIME/Pulsar (Fonseca et al 2021a) lead to the marginal 68% credible interval of M=2.08 ± 0.07 </a:t>
                </a:r>
                <a14:m>
                  <m:oMath xmlns:m="http://schemas.openxmlformats.org/officeDocument/2006/math">
                    <m:r>
                      <a:rPr lang="en-GB" i="1" smtClean="0">
                        <a:latin typeface="Cambria Math" panose="02040503050406030204" pitchFamily="18" charset="0"/>
                        <a:ea typeface="Cambria Math" panose="02040503050406030204" pitchFamily="18" charset="0"/>
                      </a:rPr>
                      <m:t>⊙</m:t>
                    </m:r>
                  </m:oMath>
                </a14:m>
                <a:r>
                  <a:rPr lang="en-GB" dirty="0"/>
                  <a:t> </a:t>
                </a:r>
              </a:p>
            </p:txBody>
          </p:sp>
        </mc:Choice>
        <mc:Fallback xmlns="">
          <p:sp>
            <p:nvSpPr>
              <p:cNvPr id="3" name="Content Placeholder 2">
                <a:extLst>
                  <a:ext uri="{FF2B5EF4-FFF2-40B4-BE49-F238E27FC236}">
                    <a16:creationId xmlns:a16="http://schemas.microsoft.com/office/drawing/2014/main" id="{9F0F3858-2627-4F71-91E7-49934DAD042C}"/>
                  </a:ext>
                </a:extLst>
              </p:cNvPr>
              <p:cNvSpPr>
                <a:spLocks noGrp="1" noRot="1" noChangeAspect="1" noMove="1" noResize="1" noEditPoints="1" noAdjustHandles="1" noChangeArrowheads="1" noChangeShapeType="1" noTextEdit="1"/>
              </p:cNvSpPr>
              <p:nvPr>
                <p:ph idx="1"/>
              </p:nvPr>
            </p:nvSpPr>
            <p:spPr>
              <a:blipFill>
                <a:blip r:embed="rId4"/>
                <a:stretch>
                  <a:fillRect l="-928" t="-2101" r="-1449"/>
                </a:stretch>
              </a:blipFill>
            </p:spPr>
            <p:txBody>
              <a:bodyPr/>
              <a:lstStyle/>
              <a:p>
                <a:r>
                  <a:rPr lang="en-GB">
                    <a:noFill/>
                  </a:rPr>
                  <a:t> </a:t>
                </a:r>
              </a:p>
            </p:txBody>
          </p:sp>
        </mc:Fallback>
      </mc:AlternateContent>
    </p:spTree>
    <p:extLst>
      <p:ext uri="{BB962C8B-B14F-4D97-AF65-F5344CB8AC3E}">
        <p14:creationId xmlns:p14="http://schemas.microsoft.com/office/powerpoint/2010/main" val="30969595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wirling meteorite">
            <a:extLst>
              <a:ext uri="{FF2B5EF4-FFF2-40B4-BE49-F238E27FC236}">
                <a16:creationId xmlns:a16="http://schemas.microsoft.com/office/drawing/2014/main" id="{65A278EC-F8EA-478B-9636-B25F27B30CC8}"/>
              </a:ext>
            </a:extLst>
          </p:cNvPr>
          <p:cNvPicPr>
            <a:picLocks noChangeAspect="1"/>
          </p:cNvPicPr>
          <p:nvPr/>
        </p:nvPicPr>
        <p:blipFill rotWithShape="1">
          <a:blip r:embed="rId3">
            <a:alphaModFix/>
          </a:blip>
          <a:srcRect t="157" b="12971"/>
          <a:stretch/>
        </p:blipFill>
        <p:spPr>
          <a:xfrm>
            <a:off x="-820072" y="-1685261"/>
            <a:ext cx="18184010" cy="10228521"/>
          </a:xfrm>
          <a:prstGeom prst="rect">
            <a:avLst/>
          </a:prstGeom>
        </p:spPr>
      </p:pic>
      <p:sp>
        <p:nvSpPr>
          <p:cNvPr id="4" name="Rectangle 3">
            <a:extLst>
              <a:ext uri="{FF2B5EF4-FFF2-40B4-BE49-F238E27FC236}">
                <a16:creationId xmlns:a16="http://schemas.microsoft.com/office/drawing/2014/main" id="{52515F56-8F39-4431-8A46-95E391BEDF78}"/>
              </a:ext>
            </a:extLst>
          </p:cNvPr>
          <p:cNvSpPr/>
          <p:nvPr/>
        </p:nvSpPr>
        <p:spPr>
          <a:xfrm>
            <a:off x="710609" y="595423"/>
            <a:ext cx="10770782" cy="566715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Content Placeholder 4" descr="Chart&#10;&#10;Description automatically generated with medium confidence">
            <a:extLst>
              <a:ext uri="{FF2B5EF4-FFF2-40B4-BE49-F238E27FC236}">
                <a16:creationId xmlns:a16="http://schemas.microsoft.com/office/drawing/2014/main" id="{A1FDA4A1-E022-4BFD-B093-AF5DCE20C43F}"/>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3065657" y="691700"/>
            <a:ext cx="6060686" cy="5474599"/>
          </a:xfrm>
        </p:spPr>
      </p:pic>
    </p:spTree>
    <p:extLst>
      <p:ext uri="{BB962C8B-B14F-4D97-AF65-F5344CB8AC3E}">
        <p14:creationId xmlns:p14="http://schemas.microsoft.com/office/powerpoint/2010/main" val="20516614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wirling meteorite">
            <a:extLst>
              <a:ext uri="{FF2B5EF4-FFF2-40B4-BE49-F238E27FC236}">
                <a16:creationId xmlns:a16="http://schemas.microsoft.com/office/drawing/2014/main" id="{30702C77-6999-425B-921E-54379D91A921}"/>
              </a:ext>
            </a:extLst>
          </p:cNvPr>
          <p:cNvPicPr>
            <a:picLocks noChangeAspect="1"/>
          </p:cNvPicPr>
          <p:nvPr/>
        </p:nvPicPr>
        <p:blipFill rotWithShape="1">
          <a:blip r:embed="rId2">
            <a:alphaModFix/>
          </a:blip>
          <a:srcRect t="157" b="12971"/>
          <a:stretch/>
        </p:blipFill>
        <p:spPr>
          <a:xfrm>
            <a:off x="-667673" y="-1685261"/>
            <a:ext cx="18184010" cy="10228521"/>
          </a:xfrm>
          <a:prstGeom prst="rect">
            <a:avLst/>
          </a:prstGeom>
        </p:spPr>
      </p:pic>
      <p:sp>
        <p:nvSpPr>
          <p:cNvPr id="4" name="Rectangle 3">
            <a:extLst>
              <a:ext uri="{FF2B5EF4-FFF2-40B4-BE49-F238E27FC236}">
                <a16:creationId xmlns:a16="http://schemas.microsoft.com/office/drawing/2014/main" id="{85AF4EEE-4735-40DC-815D-68C507E0A062}"/>
              </a:ext>
            </a:extLst>
          </p:cNvPr>
          <p:cNvSpPr/>
          <p:nvPr/>
        </p:nvSpPr>
        <p:spPr>
          <a:xfrm>
            <a:off x="710609" y="595423"/>
            <a:ext cx="10770782" cy="566715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DC67EB37-37C1-4689-9325-DE21A4B0F096}"/>
              </a:ext>
            </a:extLst>
          </p:cNvPr>
          <p:cNvSpPr>
            <a:spLocks noGrp="1"/>
          </p:cNvSpPr>
          <p:nvPr>
            <p:ph type="title"/>
          </p:nvPr>
        </p:nvSpPr>
        <p:spPr>
          <a:xfrm>
            <a:off x="838200" y="595423"/>
            <a:ext cx="10515600" cy="1095265"/>
          </a:xfrm>
        </p:spPr>
        <p:txBody>
          <a:bodyPr/>
          <a:lstStyle/>
          <a:p>
            <a:pPr algn="ctr"/>
            <a:r>
              <a:rPr lang="en-GB" dirty="0"/>
              <a:t>Summary</a:t>
            </a:r>
          </a:p>
        </p:txBody>
      </p:sp>
      <p:sp>
        <p:nvSpPr>
          <p:cNvPr id="3" name="Content Placeholder 2">
            <a:extLst>
              <a:ext uri="{FF2B5EF4-FFF2-40B4-BE49-F238E27FC236}">
                <a16:creationId xmlns:a16="http://schemas.microsoft.com/office/drawing/2014/main" id="{68930195-1D25-4286-9FAF-46027F629CE6}"/>
              </a:ext>
            </a:extLst>
          </p:cNvPr>
          <p:cNvSpPr>
            <a:spLocks noGrp="1"/>
          </p:cNvSpPr>
          <p:nvPr>
            <p:ph idx="1"/>
          </p:nvPr>
        </p:nvSpPr>
        <p:spPr/>
        <p:txBody>
          <a:bodyPr/>
          <a:lstStyle/>
          <a:p>
            <a:r>
              <a:rPr lang="en-GB" dirty="0"/>
              <a:t>Shapiro delay constrains parameters precisely to achieve masses of pulsars and rule out incorrect equations of state.</a:t>
            </a:r>
          </a:p>
          <a:p>
            <a:r>
              <a:rPr lang="en-GB" dirty="0"/>
              <a:t>Acts as an extra backbone to General Relativity</a:t>
            </a:r>
          </a:p>
        </p:txBody>
      </p:sp>
    </p:spTree>
    <p:extLst>
      <p:ext uri="{BB962C8B-B14F-4D97-AF65-F5344CB8AC3E}">
        <p14:creationId xmlns:p14="http://schemas.microsoft.com/office/powerpoint/2010/main" val="15405545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1C669EFC3798A4D894A83C1EEF93E49" ma:contentTypeVersion="11" ma:contentTypeDescription="Create a new document." ma:contentTypeScope="" ma:versionID="2fb4f83c4f9aebf96385597b61e8010e">
  <xsd:schema xmlns:xsd="http://www.w3.org/2001/XMLSchema" xmlns:xs="http://www.w3.org/2001/XMLSchema" xmlns:p="http://schemas.microsoft.com/office/2006/metadata/properties" xmlns:ns3="2adac75b-9e10-4acb-bf78-89491d38a841" xmlns:ns4="e2937630-ee42-45b6-866e-01988b4dbb5f" targetNamespace="http://schemas.microsoft.com/office/2006/metadata/properties" ma:root="true" ma:fieldsID="85cc52aaabc9f5043b02afbabcefa003" ns3:_="" ns4:_="">
    <xsd:import namespace="2adac75b-9e10-4acb-bf78-89491d38a841"/>
    <xsd:import namespace="e2937630-ee42-45b6-866e-01988b4dbb5f"/>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GenerationTime" minOccurs="0"/>
                <xsd:element ref="ns4:MediaServiceEventHashCode" minOccurs="0"/>
                <xsd:element ref="ns4: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adac75b-9e10-4acb-bf78-89491d38a84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2937630-ee42-45b6-866e-01988b4dbb5f"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0B022A3-3786-4D84-8E22-FE5CA11A42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adac75b-9e10-4acb-bf78-89491d38a841"/>
    <ds:schemaRef ds:uri="e2937630-ee42-45b6-866e-01988b4dbb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C52B5CD-4098-4BCC-BF78-C120FFC3232D}">
  <ds:schemaRefs>
    <ds:schemaRef ds:uri="http://www.w3.org/XML/1998/namespace"/>
    <ds:schemaRef ds:uri="http://schemas.microsoft.com/office/infopath/2007/PartnerControls"/>
    <ds:schemaRef ds:uri="http://purl.org/dc/elements/1.1/"/>
    <ds:schemaRef ds:uri="http://schemas.microsoft.com/office/2006/documentManagement/types"/>
    <ds:schemaRef ds:uri="http://schemas.microsoft.com/office/2006/metadata/properties"/>
    <ds:schemaRef ds:uri="e2937630-ee42-45b6-866e-01988b4dbb5f"/>
    <ds:schemaRef ds:uri="http://purl.org/dc/dcmitype/"/>
    <ds:schemaRef ds:uri="http://purl.org/dc/terms/"/>
    <ds:schemaRef ds:uri="http://schemas.openxmlformats.org/package/2006/metadata/core-properties"/>
    <ds:schemaRef ds:uri="2adac75b-9e10-4acb-bf78-89491d38a841"/>
  </ds:schemaRefs>
</ds:datastoreItem>
</file>

<file path=customXml/itemProps3.xml><?xml version="1.0" encoding="utf-8"?>
<ds:datastoreItem xmlns:ds="http://schemas.openxmlformats.org/officeDocument/2006/customXml" ds:itemID="{092D4580-E579-42FE-9448-FF2E10C8133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1813</TotalTime>
  <Words>1219</Words>
  <Application>Microsoft Office PowerPoint</Application>
  <PresentationFormat>Widescreen</PresentationFormat>
  <Paragraphs>133</Paragraphs>
  <Slides>20</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AdvOT19ee2aa8.B</vt:lpstr>
      <vt:lpstr>AdvOT483a8203</vt:lpstr>
      <vt:lpstr>Arial</vt:lpstr>
      <vt:lpstr>Calibri</vt:lpstr>
      <vt:lpstr>Calibri Light</vt:lpstr>
      <vt:lpstr>Cambria Math</vt:lpstr>
      <vt:lpstr>Helvetica Neue</vt:lpstr>
      <vt:lpstr>Proxima Nova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do we measure it?</vt:lpstr>
      <vt:lpstr>When is it important?</vt:lpstr>
      <vt:lpstr>PowerPoint Presentation</vt:lpstr>
      <vt:lpstr>How do we measure it?</vt:lpstr>
      <vt:lpstr>Shapiro Delay Equation 020202</vt:lpstr>
      <vt:lpstr>Shapiro Delay Equation</vt:lpstr>
      <vt:lpstr>PowerPoint Presentation</vt:lpstr>
      <vt:lpstr>PSR J0737-3039A/B</vt:lpstr>
      <vt:lpstr>Strong field gravity tests</vt:lpstr>
      <vt:lpstr>Strong field gravity tests</vt:lpstr>
      <vt:lpstr>PSR J0740+6620</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Shapiro Delay</dc:title>
  <dc:creator>Taylor Rutt (PHY - Student)</dc:creator>
  <cp:lastModifiedBy>Taylor Rutt (PHY - Student)</cp:lastModifiedBy>
  <cp:revision>60</cp:revision>
  <dcterms:created xsi:type="dcterms:W3CDTF">2022-03-19T21:43:06Z</dcterms:created>
  <dcterms:modified xsi:type="dcterms:W3CDTF">2022-03-24T01:51:14Z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0x01010041C669EFC3798A4D894A83C1EEF93E49</vt:lpwstr>
  </property>
</Properties>
</file>